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9" r:id="rId2"/>
    <p:sldId id="988" r:id="rId3"/>
    <p:sldId id="1001" r:id="rId4"/>
    <p:sldId id="1003" r:id="rId5"/>
    <p:sldId id="989" r:id="rId6"/>
    <p:sldId id="990" r:id="rId7"/>
    <p:sldId id="991" r:id="rId8"/>
    <p:sldId id="992" r:id="rId9"/>
    <p:sldId id="993" r:id="rId10"/>
    <p:sldId id="994" r:id="rId11"/>
    <p:sldId id="1028" r:id="rId12"/>
    <p:sldId id="1029" r:id="rId13"/>
    <p:sldId id="1032" r:id="rId14"/>
    <p:sldId id="1030" r:id="rId15"/>
    <p:sldId id="1031" r:id="rId16"/>
    <p:sldId id="1033" r:id="rId17"/>
    <p:sldId id="1035" r:id="rId18"/>
    <p:sldId id="996" r:id="rId19"/>
    <p:sldId id="1036" r:id="rId20"/>
    <p:sldId id="908"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hul Mehta" initials="RM" lastIdx="2" clrIdx="0">
    <p:extLst>
      <p:ext uri="{19B8F6BF-5375-455C-9EA6-DF929625EA0E}">
        <p15:presenceInfo xmlns:p15="http://schemas.microsoft.com/office/powerpoint/2012/main" userId="933d9a34e87d85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86409" autoAdjust="0"/>
  </p:normalViewPr>
  <p:slideViewPr>
    <p:cSldViewPr snapToGrid="0">
      <p:cViewPr varScale="1">
        <p:scale>
          <a:sx n="85" d="100"/>
          <a:sy n="85" d="100"/>
        </p:scale>
        <p:origin x="672" y="67"/>
      </p:cViewPr>
      <p:guideLst/>
    </p:cSldViewPr>
  </p:slideViewPr>
  <p:outlineViewPr>
    <p:cViewPr>
      <p:scale>
        <a:sx n="33" d="100"/>
        <a:sy n="33" d="100"/>
      </p:scale>
      <p:origin x="0" y="-674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72827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67917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20408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97165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70294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16802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43213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22015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58983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188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22887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7643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0988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52468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91884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5457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50833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91690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1425388" y="2460208"/>
            <a:ext cx="7442165"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Modularization Techniques</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Modularization Techniques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6636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Modularization is a technique used to divide the application program into smaller units.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helps to maintain the code in an easy manner and reduce the code redundancy.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modularization techniques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Include Programs/Includes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Function Modules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Subroutines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Class-Methods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51923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Include Programs/Includes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6636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Include program is a modularization technique. We use include programs to organize a program code in to smaller units.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create include programs with the help of SE38( ABAP Editor).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type of include programs is ‘I’.</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not execute a include program.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most important use of include programs is for lengthy data declarations used in different programs.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457767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Include Programs/Includes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syntax to use a Include program in to another type of programs is - INCLUDE &lt;include program name&gt;.  Example - include program name is ZDATA.  The syntax to reuse include program ZDATA in to another types of programs is INCLUDE ZDATA.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890092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 Modules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a modularization technique.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transaction code to create a function module is SE37.</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To create a function module, we need to create a function group.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774330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 Group</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Function group is a container for the function modules.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transaction code to create a function group is SE80.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function group can store up to 99 function modules.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755685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Tabs of Function Modules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tabs of function module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Attributes - It provides the generic information about the function module like - date, username, function group name, package name etc.</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Import - Input parameters of the function module.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Export - Output parameters of the function module.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Changing - Changing can acts as both input or output parameters.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Tables - is for internal tables.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97395559"/>
      </p:ext>
    </p:extLst>
  </p:cSld>
  <p:clrMapOvr>
    <a:overrideClrMapping bg1="lt1" tx1="dk1" bg2="lt2" tx2="dk2" accent1="accent1" accent2="accent2" accent3="accent3" accent4="accent4" accent5="accent5" accent6="accent6" hlink="hlink" folHlink="folHlink"/>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Tabs of Function Modules(Contd.)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Exceptions - This tab is used to raise the exception/error.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Source code - The purpose of this tab is to write the logic.</a:t>
            </a:r>
          </a:p>
        </p:txBody>
      </p:sp>
    </p:spTree>
    <p:extLst>
      <p:ext uri="{BB962C8B-B14F-4D97-AF65-F5344CB8AC3E}">
        <p14:creationId xmlns:p14="http://schemas.microsoft.com/office/powerpoint/2010/main" val="18710105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Calling of Function Modules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Times New Roman" panose="02020603050405020304" pitchFamily="18" charset="0"/>
              </a:rPr>
              <a:t>We can call the function module in a program through the pattern button.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Times New Roman" panose="02020603050405020304" pitchFamily="18" charset="0"/>
              </a:rPr>
              <a:t>Click on the pattern button and pass the function  module name by choosing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Times New Roman" panose="02020603050405020304" pitchFamily="18" charset="0"/>
              </a:rPr>
              <a:t>      call function radio button.</a:t>
            </a:r>
          </a:p>
        </p:txBody>
      </p:sp>
      <p:pic>
        <p:nvPicPr>
          <p:cNvPr id="2" name="Picture 1">
            <a:extLst>
              <a:ext uri="{FF2B5EF4-FFF2-40B4-BE49-F238E27FC236}">
                <a16:creationId xmlns:a16="http://schemas.microsoft.com/office/drawing/2014/main" id="{DC7DA533-1CA2-FC8F-9F98-D765D912AD8F}"/>
              </a:ext>
            </a:extLst>
          </p:cNvPr>
          <p:cNvPicPr>
            <a:picLocks noChangeAspect="1"/>
          </p:cNvPicPr>
          <p:nvPr/>
        </p:nvPicPr>
        <p:blipFill>
          <a:blip r:embed="rId3"/>
          <a:stretch>
            <a:fillRect/>
          </a:stretch>
        </p:blipFill>
        <p:spPr>
          <a:xfrm>
            <a:off x="3157868" y="3972592"/>
            <a:ext cx="5103629" cy="2716619"/>
          </a:xfrm>
          <a:prstGeom prst="rect">
            <a:avLst/>
          </a:prstGeom>
          <a:ln>
            <a:solidFill>
              <a:schemeClr val="accent1"/>
            </a:solidFill>
          </a:ln>
        </p:spPr>
      </p:pic>
      <p:sp>
        <p:nvSpPr>
          <p:cNvPr id="3" name="TextBox 2">
            <a:extLst>
              <a:ext uri="{FF2B5EF4-FFF2-40B4-BE49-F238E27FC236}">
                <a16:creationId xmlns:a16="http://schemas.microsoft.com/office/drawing/2014/main" id="{72125758-8E53-4D4E-953B-1F6308D962B6}"/>
              </a:ext>
            </a:extLst>
          </p:cNvPr>
          <p:cNvSpPr txBox="1"/>
          <p:nvPr/>
        </p:nvSpPr>
        <p:spPr>
          <a:xfrm flipH="1">
            <a:off x="3859619" y="3467941"/>
            <a:ext cx="324989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IN" dirty="0">
                <a:latin typeface="Calibri" panose="020F0502020204030204" pitchFamily="34" charset="0"/>
                <a:cs typeface="Calibri" panose="020F0502020204030204" pitchFamily="34" charset="0"/>
              </a:rPr>
              <a:t>Pattern button in ABAP Editor</a:t>
            </a:r>
            <a:endParaRPr kumimoji="0" lang="en-IN"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27184799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Subroutines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Subroutine is also a modularization technique.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subroutine is a modularization unit with in the program itself.</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is no separate transaction code to create a subroutine.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subroutine is a block of code introduced by FORM and ends with ENDFORM.</a:t>
            </a:r>
          </a:p>
        </p:txBody>
      </p:sp>
    </p:spTree>
    <p:extLst>
      <p:ext uri="{BB962C8B-B14F-4D97-AF65-F5344CB8AC3E}">
        <p14:creationId xmlns:p14="http://schemas.microsoft.com/office/powerpoint/2010/main" val="95520171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Subroutines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Subroutines are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Internal Subroutines -  </a:t>
            </a:r>
            <a:r>
              <a:rPr lang="en-US" sz="2400" dirty="0">
                <a:solidFill>
                  <a:srgbClr val="040C28"/>
                </a:solidFill>
                <a:latin typeface="Google Sans"/>
                <a:cs typeface="Calibri" panose="020F0502020204030204" pitchFamily="34" charset="0"/>
              </a:rPr>
              <a:t>S</a:t>
            </a:r>
            <a:r>
              <a:rPr lang="en-US" b="0" i="0" dirty="0">
                <a:solidFill>
                  <a:srgbClr val="040C28"/>
                </a:solidFill>
                <a:effectLst/>
                <a:latin typeface="Google Sans"/>
              </a:rPr>
              <a:t>ubroutines which are defined and used in a same program are called as Internal subroutines.</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External Subroutines - Subroutines which are created in one program and used in another program are called as external subroutines.</a:t>
            </a:r>
          </a:p>
        </p:txBody>
      </p:sp>
    </p:spTree>
    <p:extLst>
      <p:ext uri="{BB962C8B-B14F-4D97-AF65-F5344CB8AC3E}">
        <p14:creationId xmlns:p14="http://schemas.microsoft.com/office/powerpoint/2010/main" val="149631039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Syntax for Calling of Subroutine - Without Parameters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3755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PERFORM &lt; perform name&gt;.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example PERFORM = keyword ,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add =  name of the subroutine,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the logic for the subroutine add is written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between FORM add and ENDFORM.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8489295E-A2D6-C194-0C4B-02DC3E1B2EFB}"/>
              </a:ext>
            </a:extLst>
          </p:cNvPr>
          <p:cNvPicPr>
            <a:picLocks noChangeAspect="1"/>
          </p:cNvPicPr>
          <p:nvPr/>
        </p:nvPicPr>
        <p:blipFill>
          <a:blip r:embed="rId3"/>
          <a:stretch>
            <a:fillRect/>
          </a:stretch>
        </p:blipFill>
        <p:spPr>
          <a:xfrm>
            <a:off x="6624732" y="1691388"/>
            <a:ext cx="5000625" cy="3544000"/>
          </a:xfrm>
          <a:prstGeom prst="rect">
            <a:avLst/>
          </a:prstGeom>
          <a:ln>
            <a:solidFill>
              <a:schemeClr val="accent1"/>
            </a:solidFill>
          </a:ln>
        </p:spPr>
      </p:pic>
    </p:spTree>
    <p:extLst>
      <p:ext uri="{BB962C8B-B14F-4D97-AF65-F5344CB8AC3E}">
        <p14:creationId xmlns:p14="http://schemas.microsoft.com/office/powerpoint/2010/main" val="16194761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Syntax for Calling of Subroutine - With Parameters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PERFORM &lt;perform name&gt; TABLES  &lt;tables parameters&gt; USING &lt;using parameters&gt; CHANGING &lt;changing parameters&gt;.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cannot change the sequence of tables using changing , but if any of them (tables/using/changing) is not required, we can skip it. </a:t>
            </a:r>
          </a:p>
        </p:txBody>
      </p:sp>
    </p:spTree>
    <p:extLst>
      <p:ext uri="{BB962C8B-B14F-4D97-AF65-F5344CB8AC3E}">
        <p14:creationId xmlns:p14="http://schemas.microsoft.com/office/powerpoint/2010/main" val="405873431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Syntax for Calling of Subroutine - With Parameters(Contd.)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example PERFORM, USING and</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CHANGING = keywords,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sum =  name of the subroutine,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p_input1 and p_input2 = using parameters,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lv_output = changing parameter.  </a:t>
            </a:r>
          </a:p>
        </p:txBody>
      </p:sp>
      <p:pic>
        <p:nvPicPr>
          <p:cNvPr id="8" name="Picture 7">
            <a:extLst>
              <a:ext uri="{FF2B5EF4-FFF2-40B4-BE49-F238E27FC236}">
                <a16:creationId xmlns:a16="http://schemas.microsoft.com/office/drawing/2014/main" id="{1B4997FF-49DF-F378-E1C3-0B395263FFDF}"/>
              </a:ext>
            </a:extLst>
          </p:cNvPr>
          <p:cNvPicPr>
            <a:picLocks noChangeAspect="1"/>
          </p:cNvPicPr>
          <p:nvPr/>
        </p:nvPicPr>
        <p:blipFill>
          <a:blip r:embed="rId3"/>
          <a:stretch>
            <a:fillRect/>
          </a:stretch>
        </p:blipFill>
        <p:spPr>
          <a:xfrm>
            <a:off x="6630335" y="1395412"/>
            <a:ext cx="5048810" cy="4067175"/>
          </a:xfrm>
          <a:prstGeom prst="rect">
            <a:avLst/>
          </a:prstGeom>
          <a:ln>
            <a:solidFill>
              <a:schemeClr val="accent1"/>
            </a:solidFill>
          </a:ln>
        </p:spPr>
      </p:pic>
    </p:spTree>
    <p:extLst>
      <p:ext uri="{BB962C8B-B14F-4D97-AF65-F5344CB8AC3E}">
        <p14:creationId xmlns:p14="http://schemas.microsoft.com/office/powerpoint/2010/main" val="184027671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Subroutine - Actual Parameters and Formal Parameters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 names that appear on the PERFORM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statement are called actual parameters.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 names that appear on the FORM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statement  are called formal parameters.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example - p_input1 , p_input2 ,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lv_output  = actual parameters,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pv_input1 , pv_input2 , </a:t>
            </a:r>
            <a:r>
              <a:rPr lang="en-US" sz="2400" dirty="0" err="1">
                <a:solidFill>
                  <a:srgbClr val="3B3838"/>
                </a:solidFill>
                <a:latin typeface="Calibri" panose="020F0502020204030204" pitchFamily="34" charset="0"/>
                <a:cs typeface="Calibri" panose="020F0502020204030204" pitchFamily="34" charset="0"/>
              </a:rPr>
              <a:t>pv_output</a:t>
            </a:r>
            <a:r>
              <a:rPr lang="en-US" sz="2400" dirty="0">
                <a:solidFill>
                  <a:srgbClr val="3B3838"/>
                </a:solidFill>
                <a:latin typeface="Calibri" panose="020F0502020204030204" pitchFamily="34" charset="0"/>
                <a:cs typeface="Calibri" panose="020F0502020204030204" pitchFamily="34" charset="0"/>
              </a:rPr>
              <a:t> = formal parameters.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p:txBody>
      </p:sp>
      <p:pic>
        <p:nvPicPr>
          <p:cNvPr id="8" name="Picture 7">
            <a:extLst>
              <a:ext uri="{FF2B5EF4-FFF2-40B4-BE49-F238E27FC236}">
                <a16:creationId xmlns:a16="http://schemas.microsoft.com/office/drawing/2014/main" id="{1B4997FF-49DF-F378-E1C3-0B395263FFDF}"/>
              </a:ext>
            </a:extLst>
          </p:cNvPr>
          <p:cNvPicPr>
            <a:picLocks noChangeAspect="1"/>
          </p:cNvPicPr>
          <p:nvPr/>
        </p:nvPicPr>
        <p:blipFill>
          <a:blip r:embed="rId3"/>
          <a:stretch>
            <a:fillRect/>
          </a:stretch>
        </p:blipFill>
        <p:spPr>
          <a:xfrm>
            <a:off x="7015818" y="1792242"/>
            <a:ext cx="5048810" cy="4067175"/>
          </a:xfrm>
          <a:prstGeom prst="rect">
            <a:avLst/>
          </a:prstGeom>
          <a:ln>
            <a:solidFill>
              <a:schemeClr val="accent1"/>
            </a:solidFill>
          </a:ln>
        </p:spPr>
      </p:pic>
    </p:spTree>
    <p:extLst>
      <p:ext uri="{BB962C8B-B14F-4D97-AF65-F5344CB8AC3E}">
        <p14:creationId xmlns:p14="http://schemas.microsoft.com/office/powerpoint/2010/main" val="92528599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Subroutine With Parameters - Important Points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Perform and form statement must contain the same number of parameters. It means the number of actual parameters must be same as that of formal parameters.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addition tables , using and changing can only occur once in a statement. </a:t>
            </a:r>
          </a:p>
        </p:txBody>
      </p:sp>
    </p:spTree>
    <p:extLst>
      <p:ext uri="{BB962C8B-B14F-4D97-AF65-F5344CB8AC3E}">
        <p14:creationId xmlns:p14="http://schemas.microsoft.com/office/powerpoint/2010/main" val="384920774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Subroutine - Pass by Value and Pass by Reference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pass  by value , the value is copied from actual parameter to formal parameter, If we change the value of formal parameter the value of actual parameter will not change whereas in pass by reference, we pass the address of actual parameter to formal parameter, any changes done to the formal parameter value  will change the value of actual parameter also.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pass by value, the formal parameters have the memory of their own whereas in pass by reference, the formal parameters does not have the memory of their own.</a:t>
            </a:r>
          </a:p>
        </p:txBody>
      </p:sp>
    </p:spTree>
    <p:extLst>
      <p:ext uri="{BB962C8B-B14F-4D97-AF65-F5344CB8AC3E}">
        <p14:creationId xmlns:p14="http://schemas.microsoft.com/office/powerpoint/2010/main" val="404412747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1" y="357542"/>
            <a:ext cx="12192001"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Comparison of Include Programs With Function Module &amp; Subroutine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Include programs does not have an interface( there is no provision to pass input and output parameters) whereas function module and subroutines has interface(there is a provision to pass input and output parameters).</a:t>
            </a:r>
          </a:p>
        </p:txBody>
      </p:sp>
    </p:spTree>
    <p:extLst>
      <p:ext uri="{BB962C8B-B14F-4D97-AF65-F5344CB8AC3E}">
        <p14:creationId xmlns:p14="http://schemas.microsoft.com/office/powerpoint/2010/main" val="262644436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 Modules and Subroutines Comparison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is a separate transaction code SE37 (workbench tool) to create a function module whereas there is no separate workbench tool to create a subroutine.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check the output of function module using F8(we can independently run a function module to check the output) whereas we cannot run a subroutine independently.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raise a exception in function module using exception tab whereas in subroutines there is no exception tab.</a:t>
            </a:r>
          </a:p>
        </p:txBody>
      </p:sp>
    </p:spTree>
    <p:extLst>
      <p:ext uri="{BB962C8B-B14F-4D97-AF65-F5344CB8AC3E}">
        <p14:creationId xmlns:p14="http://schemas.microsoft.com/office/powerpoint/2010/main" val="92821621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5302</TotalTime>
  <Words>1030</Words>
  <Application>Microsoft Office PowerPoint</Application>
  <PresentationFormat>Widescreen</PresentationFormat>
  <Paragraphs>110</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Google Sans</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2398</cp:revision>
  <dcterms:modified xsi:type="dcterms:W3CDTF">2023-10-24T19:46:04Z</dcterms:modified>
</cp:coreProperties>
</file>