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1.xml" ContentType="application/vnd.openxmlformats-officedocument.themeOverride+xml"/>
  <Override PartName="/ppt/notesSlides/notesSlide23.xml" ContentType="application/vnd.openxmlformats-officedocument.presentationml.notesSlide+xml"/>
  <Override PartName="/ppt/theme/themeOverride2.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9" r:id="rId2"/>
    <p:sldId id="974" r:id="rId3"/>
    <p:sldId id="963" r:id="rId4"/>
    <p:sldId id="964" r:id="rId5"/>
    <p:sldId id="965" r:id="rId6"/>
    <p:sldId id="966" r:id="rId7"/>
    <p:sldId id="967" r:id="rId8"/>
    <p:sldId id="1034" r:id="rId9"/>
    <p:sldId id="1035" r:id="rId10"/>
    <p:sldId id="1037" r:id="rId11"/>
    <p:sldId id="1036" r:id="rId12"/>
    <p:sldId id="968" r:id="rId13"/>
    <p:sldId id="999" r:id="rId14"/>
    <p:sldId id="969" r:id="rId15"/>
    <p:sldId id="970" r:id="rId16"/>
    <p:sldId id="971" r:id="rId17"/>
    <p:sldId id="973" r:id="rId18"/>
    <p:sldId id="997" r:id="rId19"/>
    <p:sldId id="1010" r:id="rId20"/>
    <p:sldId id="1004" r:id="rId21"/>
    <p:sldId id="976" r:id="rId22"/>
    <p:sldId id="977" r:id="rId23"/>
    <p:sldId id="978" r:id="rId24"/>
    <p:sldId id="979" r:id="rId25"/>
    <p:sldId id="980" r:id="rId26"/>
    <p:sldId id="981" r:id="rId27"/>
    <p:sldId id="1014" r:id="rId28"/>
    <p:sldId id="1015" r:id="rId29"/>
    <p:sldId id="1017" r:id="rId30"/>
    <p:sldId id="1012" r:id="rId31"/>
    <p:sldId id="1013" r:id="rId32"/>
    <p:sldId id="1018" r:id="rId33"/>
    <p:sldId id="1019" r:id="rId34"/>
    <p:sldId id="1020" r:id="rId35"/>
    <p:sldId id="982" r:id="rId36"/>
    <p:sldId id="1011" r:id="rId37"/>
    <p:sldId id="984" r:id="rId38"/>
    <p:sldId id="983" r:id="rId39"/>
    <p:sldId id="1007" r:id="rId40"/>
    <p:sldId id="1028" r:id="rId41"/>
    <p:sldId id="1027" r:id="rId42"/>
    <p:sldId id="1029" r:id="rId43"/>
    <p:sldId id="1030" r:id="rId44"/>
    <p:sldId id="1031" r:id="rId45"/>
    <p:sldId id="985" r:id="rId46"/>
    <p:sldId id="957" r:id="rId47"/>
    <p:sldId id="1022" r:id="rId48"/>
    <p:sldId id="1021" r:id="rId49"/>
    <p:sldId id="958" r:id="rId50"/>
    <p:sldId id="1023" r:id="rId51"/>
    <p:sldId id="1026" r:id="rId52"/>
    <p:sldId id="1025" r:id="rId53"/>
    <p:sldId id="986" r:id="rId54"/>
    <p:sldId id="987" r:id="rId55"/>
    <p:sldId id="1038" r:id="rId56"/>
    <p:sldId id="1045" r:id="rId57"/>
    <p:sldId id="1039" r:id="rId58"/>
    <p:sldId id="1040" r:id="rId59"/>
    <p:sldId id="1041" r:id="rId60"/>
    <p:sldId id="1042" r:id="rId61"/>
    <p:sldId id="1043" r:id="rId62"/>
    <p:sldId id="1044" r:id="rId63"/>
    <p:sldId id="908" r:id="rId6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Mehta" initials="RM" lastIdx="2" clrIdx="0">
    <p:extLst>
      <p:ext uri="{19B8F6BF-5375-455C-9EA6-DF929625EA0E}">
        <p15:presenceInfo xmlns:p15="http://schemas.microsoft.com/office/powerpoint/2012/main" userId="933d9a34e87d85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6409" autoAdjust="0"/>
  </p:normalViewPr>
  <p:slideViewPr>
    <p:cSldViewPr snapToGrid="0">
      <p:cViewPr varScale="1">
        <p:scale>
          <a:sx n="85" d="100"/>
          <a:sy n="85" d="100"/>
        </p:scale>
        <p:origin x="672" y="67"/>
      </p:cViewPr>
      <p:guideLst/>
    </p:cSldViewPr>
  </p:slideViewPr>
  <p:outlineViewPr>
    <p:cViewPr>
      <p:scale>
        <a:sx n="33" d="100"/>
        <a:sy n="33" d="100"/>
      </p:scale>
      <p:origin x="0" y="-674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44156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45321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4967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90553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9022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4013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5F72-2250-68C3-7067-DAC48A05F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08955-95BE-F17D-E14A-80C67FE5B8B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3279C-AC3A-59D6-4A48-659F931410F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83741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AFC0-39ED-9DFE-1DDB-0040F3341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E4063-ABCA-A39A-A733-1AA4D5996C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3CC779-4718-19C4-91C2-22831FD0EE2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87900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E9D72-D0D7-35AC-2E3F-EE9CEDCF7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E995D-FDB5-2807-5A8B-DEBE0D3EEA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F180888-0E3E-8393-C09C-BE4CAF5C372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83548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8FFFD-20D7-F555-555F-8218BFFE8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012C3-43E0-2724-D9AE-7B96FB3E41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1AA61F3-6ABB-1FAD-DAAB-6E471912038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47142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15445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87997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3700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a:t>
            </a:r>
            <a:endParaRPr lang="en-IN" dirty="0"/>
          </a:p>
        </p:txBody>
      </p:sp>
    </p:spTree>
    <p:extLst>
      <p:ext uri="{BB962C8B-B14F-4D97-AF65-F5344CB8AC3E}">
        <p14:creationId xmlns:p14="http://schemas.microsoft.com/office/powerpoint/2010/main" val="3748561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98194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09004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29203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99693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67701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84034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09490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041281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1557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75477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77365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68901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0882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75764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8250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71157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705521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7414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95157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03879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67476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405768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901538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30035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36955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817745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234406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743492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551022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3982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69484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085072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0605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305759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8553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08921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418700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90333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32401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730506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739075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428255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615025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809435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111855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957920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428872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ABAP Programming Part2</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Classical Reports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Reports are programs that read data from the database, processes the data and displays the data in the required format.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consists of 2 screens - selection screen and output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selection screen is optional.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SAP ABAP classical reports are the most basic ABAP reports in which we displayed the output using WRITE statement.</a:t>
            </a:r>
          </a:p>
        </p:txBody>
      </p:sp>
    </p:spTree>
    <p:extLst>
      <p:ext uri="{BB962C8B-B14F-4D97-AF65-F5344CB8AC3E}">
        <p14:creationId xmlns:p14="http://schemas.microsoft.com/office/powerpoint/2010/main" val="32960518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Open SQL</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SQL stands for structured query language.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Open SQL - Open SQL is database independent.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Native SQL - Native SQL is database dependent.</a:t>
            </a:r>
          </a:p>
        </p:txBody>
      </p:sp>
    </p:spTree>
    <p:extLst>
      <p:ext uri="{BB962C8B-B14F-4D97-AF65-F5344CB8AC3E}">
        <p14:creationId xmlns:p14="http://schemas.microsoft.com/office/powerpoint/2010/main" val="198550338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Open SQL Queries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figure shows an example of open SQL query.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query fetches data from database table ztordh_88, based upon the select-options s_ono.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there is a select-options, we need to use IN operator.</a:t>
            </a:r>
          </a:p>
        </p:txBody>
      </p:sp>
      <p:pic>
        <p:nvPicPr>
          <p:cNvPr id="2" name="Picture 1">
            <a:extLst>
              <a:ext uri="{FF2B5EF4-FFF2-40B4-BE49-F238E27FC236}">
                <a16:creationId xmlns:a16="http://schemas.microsoft.com/office/drawing/2014/main" id="{05C0DF3E-388E-672A-96A7-545F8D4B70C1}"/>
              </a:ext>
            </a:extLst>
          </p:cNvPr>
          <p:cNvPicPr>
            <a:picLocks noChangeAspect="1"/>
          </p:cNvPicPr>
          <p:nvPr/>
        </p:nvPicPr>
        <p:blipFill>
          <a:blip r:embed="rId3"/>
          <a:stretch>
            <a:fillRect/>
          </a:stretch>
        </p:blipFill>
        <p:spPr>
          <a:xfrm>
            <a:off x="2844714" y="5197992"/>
            <a:ext cx="5086350" cy="1190625"/>
          </a:xfrm>
          <a:prstGeom prst="rect">
            <a:avLst/>
          </a:prstGeom>
          <a:ln>
            <a:solidFill>
              <a:schemeClr val="accent1"/>
            </a:solidFill>
          </a:ln>
        </p:spPr>
      </p:pic>
      <p:sp>
        <p:nvSpPr>
          <p:cNvPr id="3" name="TextBox 2">
            <a:extLst>
              <a:ext uri="{FF2B5EF4-FFF2-40B4-BE49-F238E27FC236}">
                <a16:creationId xmlns:a16="http://schemas.microsoft.com/office/drawing/2014/main" id="{A1E31F29-50A3-C32D-2120-7D8F4F28A80A}"/>
              </a:ext>
            </a:extLst>
          </p:cNvPr>
          <p:cNvSpPr txBox="1"/>
          <p:nvPr/>
        </p:nvSpPr>
        <p:spPr>
          <a:xfrm flipH="1">
            <a:off x="3557440" y="4624581"/>
            <a:ext cx="332065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Example of Open SQL Query</a:t>
            </a:r>
          </a:p>
        </p:txBody>
      </p:sp>
    </p:spTree>
    <p:extLst>
      <p:ext uri="{BB962C8B-B14F-4D97-AF65-F5344CB8AC3E}">
        <p14:creationId xmlns:p14="http://schemas.microsoft.com/office/powerpoint/2010/main" val="391337094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Open SQL Queries(Contd.)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72007"/>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figure shows an example of open SQL query.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query fetches data from database table ztordh_88, based upon the parameter p_ono.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there is a parameter, we need to use = operator.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1E31F29-50A3-C32D-2120-7D8F4F28A80A}"/>
              </a:ext>
            </a:extLst>
          </p:cNvPr>
          <p:cNvSpPr txBox="1"/>
          <p:nvPr/>
        </p:nvSpPr>
        <p:spPr>
          <a:xfrm flipH="1">
            <a:off x="3536175" y="4380032"/>
            <a:ext cx="332065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Example of Open SQL Query</a:t>
            </a:r>
          </a:p>
        </p:txBody>
      </p:sp>
      <p:pic>
        <p:nvPicPr>
          <p:cNvPr id="4" name="Picture 3">
            <a:extLst>
              <a:ext uri="{FF2B5EF4-FFF2-40B4-BE49-F238E27FC236}">
                <a16:creationId xmlns:a16="http://schemas.microsoft.com/office/drawing/2014/main" id="{5196BB04-8D94-255F-CA75-EC81C5AEB8F2}"/>
              </a:ext>
            </a:extLst>
          </p:cNvPr>
          <p:cNvPicPr>
            <a:picLocks noChangeAspect="1"/>
          </p:cNvPicPr>
          <p:nvPr/>
        </p:nvPicPr>
        <p:blipFill>
          <a:blip r:embed="rId3"/>
          <a:stretch>
            <a:fillRect/>
          </a:stretch>
        </p:blipFill>
        <p:spPr>
          <a:xfrm>
            <a:off x="2872846" y="5033608"/>
            <a:ext cx="4962525" cy="1466850"/>
          </a:xfrm>
          <a:prstGeom prst="rect">
            <a:avLst/>
          </a:prstGeom>
          <a:ln>
            <a:solidFill>
              <a:schemeClr val="accent1"/>
            </a:solidFill>
          </a:ln>
        </p:spPr>
      </p:pic>
    </p:spTree>
    <p:extLst>
      <p:ext uri="{BB962C8B-B14F-4D97-AF65-F5344CB8AC3E}">
        <p14:creationId xmlns:p14="http://schemas.microsoft.com/office/powerpoint/2010/main" val="350275414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Open SQL Queries - For All Entries In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we fetch the data from multiple tables, ‘For All Entries In’ is the best  alternative.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reduces the database load.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parent internal table(lt_data1) must not be empty.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3BFD0AEA-DD55-DEC7-B1E0-673C4D474CC1}"/>
              </a:ext>
            </a:extLst>
          </p:cNvPr>
          <p:cNvPicPr>
            <a:picLocks noChangeAspect="1"/>
          </p:cNvPicPr>
          <p:nvPr/>
        </p:nvPicPr>
        <p:blipFill>
          <a:blip r:embed="rId3"/>
          <a:stretch>
            <a:fillRect/>
          </a:stretch>
        </p:blipFill>
        <p:spPr>
          <a:xfrm>
            <a:off x="3429534" y="3904598"/>
            <a:ext cx="4371938" cy="2786027"/>
          </a:xfrm>
          <a:prstGeom prst="rect">
            <a:avLst/>
          </a:prstGeom>
          <a:ln>
            <a:solidFill>
              <a:schemeClr val="accent1"/>
            </a:solidFill>
          </a:ln>
        </p:spPr>
      </p:pic>
      <p:sp>
        <p:nvSpPr>
          <p:cNvPr id="5" name="TextBox 4">
            <a:extLst>
              <a:ext uri="{FF2B5EF4-FFF2-40B4-BE49-F238E27FC236}">
                <a16:creationId xmlns:a16="http://schemas.microsoft.com/office/drawing/2014/main" id="{30DAC03B-13C6-1502-BBBC-D616D28E9BB1}"/>
              </a:ext>
            </a:extLst>
          </p:cNvPr>
          <p:cNvSpPr txBox="1"/>
          <p:nvPr/>
        </p:nvSpPr>
        <p:spPr>
          <a:xfrm flipH="1">
            <a:off x="3929580" y="3519830"/>
            <a:ext cx="292725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Use of For All Entries In</a:t>
            </a:r>
          </a:p>
        </p:txBody>
      </p:sp>
    </p:spTree>
    <p:extLst>
      <p:ext uri="{BB962C8B-B14F-4D97-AF65-F5344CB8AC3E}">
        <p14:creationId xmlns:p14="http://schemas.microsoft.com/office/powerpoint/2010/main" val="393103493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Open SQL Queries - Join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With the help of join, we can read from more than one table in a single select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Join is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Inner Join</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Outer Join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405442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8A6D-47F7-B536-AA5E-85D241A823F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4D02475-B5CF-B953-28C8-2425907907C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a:extLst>
              <a:ext uri="{FF2B5EF4-FFF2-40B4-BE49-F238E27FC236}">
                <a16:creationId xmlns:a16="http://schemas.microsoft.com/office/drawing/2014/main" id="{693BDCAE-E9E7-7EFF-1B26-819F6F9E460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Inner Join</a:t>
            </a:r>
          </a:p>
        </p:txBody>
      </p:sp>
      <p:sp>
        <p:nvSpPr>
          <p:cNvPr id="208" name="Straight Connector 18">
            <a:extLst>
              <a:ext uri="{FF2B5EF4-FFF2-40B4-BE49-F238E27FC236}">
                <a16:creationId xmlns:a16="http://schemas.microsoft.com/office/drawing/2014/main" id="{E9B69544-1E98-6199-2C28-872C945685B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5D7F975-5907-CD6C-E7E6-1E198AB1A7EB}"/>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An inner join finds and returns matching data from tables based upon specified conditions.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If one or more criteria are not met, no data records are created in the result set.</a:t>
            </a:r>
          </a:p>
        </p:txBody>
      </p:sp>
      <p:pic>
        <p:nvPicPr>
          <p:cNvPr id="4" name="Picture 3">
            <a:extLst>
              <a:ext uri="{FF2B5EF4-FFF2-40B4-BE49-F238E27FC236}">
                <a16:creationId xmlns:a16="http://schemas.microsoft.com/office/drawing/2014/main" id="{4B523EEC-8B6D-8FB4-80AD-6A1E5C26FE13}"/>
              </a:ext>
            </a:extLst>
          </p:cNvPr>
          <p:cNvPicPr>
            <a:picLocks noChangeAspect="1"/>
          </p:cNvPicPr>
          <p:nvPr/>
        </p:nvPicPr>
        <p:blipFill>
          <a:blip r:embed="rId3"/>
          <a:stretch>
            <a:fillRect/>
          </a:stretch>
        </p:blipFill>
        <p:spPr>
          <a:xfrm>
            <a:off x="2577146" y="4181814"/>
            <a:ext cx="6105910" cy="1933399"/>
          </a:xfrm>
          <a:prstGeom prst="rect">
            <a:avLst/>
          </a:prstGeom>
          <a:ln>
            <a:solidFill>
              <a:schemeClr val="accent1"/>
            </a:solidFill>
          </a:ln>
        </p:spPr>
      </p:pic>
      <p:sp>
        <p:nvSpPr>
          <p:cNvPr id="2" name="TextBox 1">
            <a:extLst>
              <a:ext uri="{FF2B5EF4-FFF2-40B4-BE49-F238E27FC236}">
                <a16:creationId xmlns:a16="http://schemas.microsoft.com/office/drawing/2014/main" id="{CB34AEE5-AD5B-6A08-015E-2B366813FDE9}"/>
              </a:ext>
            </a:extLst>
          </p:cNvPr>
          <p:cNvSpPr txBox="1"/>
          <p:nvPr/>
        </p:nvSpPr>
        <p:spPr>
          <a:xfrm flipH="1">
            <a:off x="2761129" y="3812484"/>
            <a:ext cx="573794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a:t>
            </a: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Use of Inner </a:t>
            </a:r>
            <a:r>
              <a:rPr lang="en-IN" dirty="0">
                <a:latin typeface="Calibri" panose="020F0502020204030204" pitchFamily="34" charset="0"/>
                <a:cs typeface="Calibri" panose="020F0502020204030204" pitchFamily="34" charset="0"/>
              </a:rPr>
              <a:t>Join to Fetch Data From Multiple Tables</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3504840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E3E7-788F-653C-5917-1C1EC401331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2FA2D31-4333-40B0-B98C-0FB17379142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a:extLst>
              <a:ext uri="{FF2B5EF4-FFF2-40B4-BE49-F238E27FC236}">
                <a16:creationId xmlns:a16="http://schemas.microsoft.com/office/drawing/2014/main" id="{FAD7EFC6-EFE5-DE70-4B4A-AB60CB9BAC7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Outer Join</a:t>
            </a:r>
          </a:p>
        </p:txBody>
      </p:sp>
      <p:sp>
        <p:nvSpPr>
          <p:cNvPr id="208" name="Straight Connector 18">
            <a:extLst>
              <a:ext uri="{FF2B5EF4-FFF2-40B4-BE49-F238E27FC236}">
                <a16:creationId xmlns:a16="http://schemas.microsoft.com/office/drawing/2014/main" id="{CABC340F-DD56-09EA-B30A-5D185A5986D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953C468-0BFF-D6DA-0240-813BB926A010}"/>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Outer join finds and returns matching data and non-matching data from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Outer join is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Left Outer Join( Left Join)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Right Outer Join(Right Join)</a:t>
            </a:r>
          </a:p>
        </p:txBody>
      </p:sp>
    </p:spTree>
    <p:extLst>
      <p:ext uri="{BB962C8B-B14F-4D97-AF65-F5344CB8AC3E}">
        <p14:creationId xmlns:p14="http://schemas.microsoft.com/office/powerpoint/2010/main" val="61709748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948F2-BF69-69E3-3CA4-7F860FDE3E7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3688DB7-796A-8014-2641-D2007ED8B88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a:extLst>
              <a:ext uri="{FF2B5EF4-FFF2-40B4-BE49-F238E27FC236}">
                <a16:creationId xmlns:a16="http://schemas.microsoft.com/office/drawing/2014/main" id="{93FC556B-E2B2-D142-42DB-ED540E9FB98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Left Outer Join</a:t>
            </a:r>
          </a:p>
        </p:txBody>
      </p:sp>
      <p:sp>
        <p:nvSpPr>
          <p:cNvPr id="208" name="Straight Connector 18">
            <a:extLst>
              <a:ext uri="{FF2B5EF4-FFF2-40B4-BE49-F238E27FC236}">
                <a16:creationId xmlns:a16="http://schemas.microsoft.com/office/drawing/2014/main" id="{E41FD453-A412-325D-89E2-19A9965E4E1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A6B6D0C-E0E1-21D6-C95D-137726612BE5}"/>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left outer join takes all the values from the left table and combines them with the values from the right table that meet the criteria. </a:t>
            </a:r>
          </a:p>
        </p:txBody>
      </p:sp>
      <p:pic>
        <p:nvPicPr>
          <p:cNvPr id="5" name="Picture 4">
            <a:extLst>
              <a:ext uri="{FF2B5EF4-FFF2-40B4-BE49-F238E27FC236}">
                <a16:creationId xmlns:a16="http://schemas.microsoft.com/office/drawing/2014/main" id="{BAD586C3-093A-591A-B447-5CF2B3BDC24F}"/>
              </a:ext>
            </a:extLst>
          </p:cNvPr>
          <p:cNvPicPr>
            <a:picLocks noChangeAspect="1"/>
          </p:cNvPicPr>
          <p:nvPr/>
        </p:nvPicPr>
        <p:blipFill>
          <a:blip r:embed="rId3"/>
          <a:stretch>
            <a:fillRect/>
          </a:stretch>
        </p:blipFill>
        <p:spPr>
          <a:xfrm>
            <a:off x="1939793" y="3849334"/>
            <a:ext cx="7858125" cy="1419225"/>
          </a:xfrm>
          <a:prstGeom prst="rect">
            <a:avLst/>
          </a:prstGeom>
          <a:ln>
            <a:solidFill>
              <a:schemeClr val="accent1"/>
            </a:solidFill>
          </a:ln>
        </p:spPr>
      </p:pic>
      <p:sp>
        <p:nvSpPr>
          <p:cNvPr id="2" name="TextBox 1">
            <a:extLst>
              <a:ext uri="{FF2B5EF4-FFF2-40B4-BE49-F238E27FC236}">
                <a16:creationId xmlns:a16="http://schemas.microsoft.com/office/drawing/2014/main" id="{C1FE1068-918D-0888-1C58-82BCA8B28CEB}"/>
              </a:ext>
            </a:extLst>
          </p:cNvPr>
          <p:cNvSpPr txBox="1"/>
          <p:nvPr/>
        </p:nvSpPr>
        <p:spPr>
          <a:xfrm flipH="1">
            <a:off x="2572871" y="3244335"/>
            <a:ext cx="640080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mj-lt"/>
                <a:ea typeface="+mj-ea"/>
                <a:cs typeface="+mj-cs"/>
                <a:sym typeface="Calibri"/>
              </a:rPr>
              <a:t>        </a:t>
            </a: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Use of Left </a:t>
            </a:r>
            <a:r>
              <a:rPr lang="en-IN" dirty="0">
                <a:latin typeface="Calibri" panose="020F0502020204030204" pitchFamily="34" charset="0"/>
                <a:cs typeface="Calibri" panose="020F0502020204030204" pitchFamily="34" charset="0"/>
              </a:rPr>
              <a:t>Outer</a:t>
            </a: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a:t>
            </a:r>
            <a:r>
              <a:rPr lang="en-IN" dirty="0">
                <a:latin typeface="Calibri" panose="020F0502020204030204" pitchFamily="34" charset="0"/>
                <a:cs typeface="Calibri" panose="020F0502020204030204" pitchFamily="34" charset="0"/>
              </a:rPr>
              <a:t>Join to Fetch Data From Multiple Tables</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81945230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7F158-EC34-5D73-1DA1-A788FA226C7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74645F6-9874-F6D8-D4F7-C87657133BB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a:extLst>
              <a:ext uri="{FF2B5EF4-FFF2-40B4-BE49-F238E27FC236}">
                <a16:creationId xmlns:a16="http://schemas.microsoft.com/office/drawing/2014/main" id="{D50EF435-DB24-4DB3-670B-97AB1612A032}"/>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Right Outer Join</a:t>
            </a:r>
          </a:p>
        </p:txBody>
      </p:sp>
      <p:sp>
        <p:nvSpPr>
          <p:cNvPr id="208" name="Straight Connector 18">
            <a:extLst>
              <a:ext uri="{FF2B5EF4-FFF2-40B4-BE49-F238E27FC236}">
                <a16:creationId xmlns:a16="http://schemas.microsoft.com/office/drawing/2014/main" id="{74D5C977-D0FA-F001-2EA3-C53C0CFF23A9}"/>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808ED52-6711-76E2-F6BA-5B7781116C46}"/>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right outer join takes all the values from the right table and combines them with the values from the left table that meet the criteria.  </a:t>
            </a:r>
          </a:p>
        </p:txBody>
      </p:sp>
    </p:spTree>
    <p:extLst>
      <p:ext uri="{BB962C8B-B14F-4D97-AF65-F5344CB8AC3E}">
        <p14:creationId xmlns:p14="http://schemas.microsoft.com/office/powerpoint/2010/main" val="275852268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Best Performance Practices/Guidelines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Never use * in the query. Fetch the data of only those columns which are required.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Columns fetching sequence needs to be same as that of data dictionary column sequence.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Where condition column sequence needs to be same as that of data dictionary column sequence.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Never use corresponding in the query.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Never write the queries inside the loop.</a:t>
            </a:r>
          </a:p>
        </p:txBody>
      </p:sp>
    </p:spTree>
    <p:extLst>
      <p:ext uri="{BB962C8B-B14F-4D97-AF65-F5344CB8AC3E}">
        <p14:creationId xmlns:p14="http://schemas.microsoft.com/office/powerpoint/2010/main" val="328047468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Best Performance Practices/Guidelines(Contd.)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traditional databases avoid using JOIN, use FOR ALL ENTRIES IN.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fetching data from foreign key tables/dependent tables - check for sy-subrc or internal table not initial condition.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Use binary search in read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Use parallel cursor in nested loops.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multiple conditions, use CASE conditional statement rather than IF conditional statement. </a:t>
            </a:r>
          </a:p>
        </p:txBody>
      </p:sp>
    </p:spTree>
    <p:extLst>
      <p:ext uri="{BB962C8B-B14F-4D97-AF65-F5344CB8AC3E}">
        <p14:creationId xmlns:p14="http://schemas.microsoft.com/office/powerpoint/2010/main" val="34475691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Best Performance Practices/Guidelines(Contd.)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Use existing indexes or create secondary indexes to improve the performance.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337435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Message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Messages always plays an important role for end user.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types of messages are - A(abort), E(error), I(information), S(success/status),W(warning), X(exit).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for message class is SE91.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617BA08-44B5-6392-B1DB-C77CAD988DA4}"/>
              </a:ext>
            </a:extLst>
          </p:cNvPr>
          <p:cNvPicPr>
            <a:picLocks noChangeAspect="1"/>
          </p:cNvPicPr>
          <p:nvPr/>
        </p:nvPicPr>
        <p:blipFill>
          <a:blip r:embed="rId3"/>
          <a:stretch>
            <a:fillRect/>
          </a:stretch>
        </p:blipFill>
        <p:spPr>
          <a:xfrm>
            <a:off x="3057610" y="4504031"/>
            <a:ext cx="4886182" cy="2325823"/>
          </a:xfrm>
          <a:prstGeom prst="rect">
            <a:avLst/>
          </a:prstGeom>
          <a:ln>
            <a:solidFill>
              <a:schemeClr val="accent1"/>
            </a:solidFill>
          </a:ln>
        </p:spPr>
      </p:pic>
      <p:sp>
        <p:nvSpPr>
          <p:cNvPr id="5" name="TextBox 4">
            <a:extLst>
              <a:ext uri="{FF2B5EF4-FFF2-40B4-BE49-F238E27FC236}">
                <a16:creationId xmlns:a16="http://schemas.microsoft.com/office/drawing/2014/main" id="{5AFB20A2-C457-7144-7639-4DB92F227C45}"/>
              </a:ext>
            </a:extLst>
          </p:cNvPr>
          <p:cNvSpPr txBox="1"/>
          <p:nvPr/>
        </p:nvSpPr>
        <p:spPr>
          <a:xfrm flipH="1">
            <a:off x="3957435" y="4115537"/>
            <a:ext cx="279966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Transaction</a:t>
            </a:r>
            <a:r>
              <a:rPr kumimoji="0" lang="en-IN" sz="1800" b="0" i="0" u="none" strike="noStrike" cap="none" spc="0" normalizeH="0" baseline="0" dirty="0">
                <a:ln>
                  <a:noFill/>
                </a:ln>
                <a:solidFill>
                  <a:srgbClr val="000000"/>
                </a:solidFill>
                <a:effectLst/>
                <a:uFillTx/>
                <a:latin typeface="+mj-lt"/>
                <a:ea typeface="+mj-ea"/>
                <a:cs typeface="+mj-cs"/>
                <a:sym typeface="Calibri"/>
              </a:rPr>
              <a:t> Code : SE91</a:t>
            </a:r>
          </a:p>
        </p:txBody>
      </p:sp>
    </p:spTree>
    <p:extLst>
      <p:ext uri="{BB962C8B-B14F-4D97-AF65-F5344CB8AC3E}">
        <p14:creationId xmlns:p14="http://schemas.microsoft.com/office/powerpoint/2010/main" val="427728535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Message Class(Contd.)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message number length is 3(000-999).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One can pass values to a message number using &amp;.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a message number, we can pass up to 4 &amp;.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to use a message in a program:  MESSAGE E000(&lt;msg class &gt;).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MESSAGE = keyword , E = error message type , 000 is message number , &lt;msg class&gt; = name of the message class.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5857821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Transaction Code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One can create own shortcut/transactions to access the applications.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to create a transaction code is SE93.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15AA584E-CA9F-A61E-4C65-3511F6A20885}"/>
              </a:ext>
            </a:extLst>
          </p:cNvPr>
          <p:cNvPicPr>
            <a:picLocks noChangeAspect="1"/>
          </p:cNvPicPr>
          <p:nvPr/>
        </p:nvPicPr>
        <p:blipFill>
          <a:blip r:embed="rId3"/>
          <a:stretch>
            <a:fillRect/>
          </a:stretch>
        </p:blipFill>
        <p:spPr>
          <a:xfrm>
            <a:off x="3199369" y="3671770"/>
            <a:ext cx="4710430" cy="2644775"/>
          </a:xfrm>
          <a:prstGeom prst="rect">
            <a:avLst/>
          </a:prstGeom>
          <a:ln>
            <a:solidFill>
              <a:schemeClr val="accent1"/>
            </a:solidFill>
          </a:ln>
        </p:spPr>
      </p:pic>
      <p:sp>
        <p:nvSpPr>
          <p:cNvPr id="3" name="TextBox 2">
            <a:extLst>
              <a:ext uri="{FF2B5EF4-FFF2-40B4-BE49-F238E27FC236}">
                <a16:creationId xmlns:a16="http://schemas.microsoft.com/office/drawing/2014/main" id="{E7877916-7377-5214-5E98-9C7678C29F2D}"/>
              </a:ext>
            </a:extLst>
          </p:cNvPr>
          <p:cNvSpPr txBox="1"/>
          <p:nvPr/>
        </p:nvSpPr>
        <p:spPr>
          <a:xfrm flipH="1">
            <a:off x="4068973" y="3098611"/>
            <a:ext cx="279966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Transaction Code : SE93</a:t>
            </a:r>
          </a:p>
        </p:txBody>
      </p:sp>
    </p:spTree>
    <p:extLst>
      <p:ext uri="{BB962C8B-B14F-4D97-AF65-F5344CB8AC3E}">
        <p14:creationId xmlns:p14="http://schemas.microsoft.com/office/powerpoint/2010/main" val="316526129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Classical Report Events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Classical reports are the most basic ABAP reports in which we display the output using WRITE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Event is always triggered by a specific action or a specific occurrence(when a particular time has been reached).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example of specific actions are mouse click, pressing a key etc. The example of specific occurrence is running out of memory etc. </a:t>
            </a:r>
          </a:p>
        </p:txBody>
      </p:sp>
    </p:spTree>
    <p:extLst>
      <p:ext uri="{BB962C8B-B14F-4D97-AF65-F5344CB8AC3E}">
        <p14:creationId xmlns:p14="http://schemas.microsoft.com/office/powerpoint/2010/main" val="334846717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Classical Report Events(Contd.)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same concept of events is applicable to classical reports. Some events trigger by specific user action and some events trigger at specific occurrence in classical reports.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classical report event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Initialization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selection-screen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Start-of-selection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End-of-selection</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136894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Classical Report Events(Contd.)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Top-of-page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End-of-page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IN" b="0" i="0" dirty="0">
                <a:solidFill>
                  <a:srgbClr val="2B2B2B"/>
                </a:solidFill>
                <a:effectLst/>
                <a:latin typeface="inherit"/>
              </a:rPr>
              <a:t>At selection-screen output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b="0" i="0" dirty="0">
                <a:solidFill>
                  <a:srgbClr val="2B2B2B"/>
                </a:solidFill>
                <a:effectLst/>
                <a:latin typeface="inherit"/>
              </a:rPr>
              <a:t>At selection-screen on value request for &lt;field&gt;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b="0" i="0" dirty="0">
                <a:solidFill>
                  <a:srgbClr val="2B2B2B"/>
                </a:solidFill>
                <a:effectLst/>
                <a:latin typeface="inherit"/>
              </a:rPr>
              <a:t>At </a:t>
            </a:r>
            <a:r>
              <a:rPr lang="en-US" dirty="0">
                <a:solidFill>
                  <a:srgbClr val="2B2B2B"/>
                </a:solidFill>
                <a:latin typeface="inherit"/>
              </a:rPr>
              <a:t>s</a:t>
            </a:r>
            <a:r>
              <a:rPr lang="en-US" b="0" i="0" dirty="0">
                <a:solidFill>
                  <a:srgbClr val="2B2B2B"/>
                </a:solidFill>
                <a:effectLst/>
                <a:latin typeface="inherit"/>
              </a:rPr>
              <a:t>election-screen on help request for &lt;field&gt;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IN" b="0" i="0" dirty="0">
                <a:solidFill>
                  <a:srgbClr val="2B2B2B"/>
                </a:solidFill>
                <a:effectLst/>
                <a:latin typeface="inherit"/>
              </a:rPr>
              <a:t>At selection-screen </a:t>
            </a:r>
            <a:r>
              <a:rPr lang="en-IN" b="0" i="0">
                <a:solidFill>
                  <a:srgbClr val="2B2B2B"/>
                </a:solidFill>
                <a:effectLst/>
                <a:latin typeface="inherit"/>
              </a:rPr>
              <a:t>on &lt;field&gt;</a:t>
            </a:r>
            <a:r>
              <a:rPr lang="en-US" sz="2400">
                <a:solidFill>
                  <a:srgbClr val="3B3838"/>
                </a:solidFill>
                <a:latin typeface="Calibri" panose="020F0502020204030204" pitchFamily="34" charset="0"/>
                <a:cs typeface="Calibri" panose="020F0502020204030204" pitchFamily="34" charset="0"/>
              </a:rPr>
              <a:t>  </a:t>
            </a:r>
            <a:endParaRPr lang="en-IN" b="0" i="0" dirty="0">
              <a:solidFill>
                <a:srgbClr val="2B2B2B"/>
              </a:solidFill>
              <a:effectLst/>
              <a:latin typeface="inherit"/>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293438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Initialization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before displaying the selection screen/Input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assign the default values to parameters and select-options.</a:t>
            </a:r>
          </a:p>
        </p:txBody>
      </p:sp>
    </p:spTree>
    <p:extLst>
      <p:ext uri="{BB962C8B-B14F-4D97-AF65-F5344CB8AC3E}">
        <p14:creationId xmlns:p14="http://schemas.microsoft.com/office/powerpoint/2010/main" val="270319803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Selection-Screen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user performs some action (enter, click etc.) on to the selection screen.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validate the Input.</a:t>
            </a:r>
          </a:p>
        </p:txBody>
      </p:sp>
    </p:spTree>
    <p:extLst>
      <p:ext uri="{BB962C8B-B14F-4D97-AF65-F5344CB8AC3E}">
        <p14:creationId xmlns:p14="http://schemas.microsoft.com/office/powerpoint/2010/main" val="298529379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Start-of-Selection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user clicks execute button on the selection screen.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selection logic is the part of this event.</a:t>
            </a:r>
          </a:p>
        </p:txBody>
      </p:sp>
    </p:spTree>
    <p:extLst>
      <p:ext uri="{BB962C8B-B14F-4D97-AF65-F5344CB8AC3E}">
        <p14:creationId xmlns:p14="http://schemas.microsoft.com/office/powerpoint/2010/main" val="3964873135"/>
      </p:ext>
    </p:extLst>
  </p:cSld>
  <p:clrMapOvr>
    <a:overrideClrMapping bg1="lt1" tx1="dk1" bg2="lt2" tx2="dk2" accent1="accent1" accent2="accent2" accent3="accent3" accent4="accent4" accent5="accent5" accent6="accent6" hlink="hlink" folHlink="folHlink"/>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End-of-Selection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selection process ends or after the last statement in the START-OF-SELECTON event is executed.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helps to identify the end of data/records. </a:t>
            </a:r>
          </a:p>
        </p:txBody>
      </p:sp>
    </p:spTree>
    <p:extLst>
      <p:ext uri="{BB962C8B-B14F-4D97-AF65-F5344CB8AC3E}">
        <p14:creationId xmlns:p14="http://schemas.microsoft.com/office/powerpoint/2010/main" val="3518525418"/>
      </p:ext>
    </p:extLst>
  </p:cSld>
  <p:clrMapOvr>
    <a:overrideClrMapping bg1="lt1" tx1="dk1" bg2="lt2" tx2="dk2" accent1="accent1" accent2="accent2" accent3="accent3" accent4="accent4" accent5="accent5" accent6="accent6" hlink="hlink" folHlink="folHlink"/>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Top-of-Page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202124"/>
                </a:solidFill>
                <a:latin typeface="Google Sans"/>
              </a:rPr>
              <a:t>This </a:t>
            </a:r>
            <a:r>
              <a:rPr lang="en-US" b="0" i="0" dirty="0">
                <a:solidFill>
                  <a:srgbClr val="202124"/>
                </a:solidFill>
                <a:effectLst/>
                <a:latin typeface="Google Sans"/>
              </a:rPr>
              <a:t>event </a:t>
            </a:r>
            <a:r>
              <a:rPr lang="en-US" dirty="0">
                <a:solidFill>
                  <a:srgbClr val="202124"/>
                </a:solidFill>
                <a:latin typeface="Google Sans"/>
              </a:rPr>
              <a:t>calls </a:t>
            </a:r>
            <a:r>
              <a:rPr lang="en-US" b="0" i="0" dirty="0">
                <a:solidFill>
                  <a:srgbClr val="040C28"/>
                </a:solidFill>
                <a:effectLst/>
                <a:latin typeface="Google Sans"/>
              </a:rPr>
              <a:t>when the first </a:t>
            </a:r>
            <a:r>
              <a:rPr lang="en-US" dirty="0">
                <a:solidFill>
                  <a:srgbClr val="040C28"/>
                </a:solidFill>
                <a:latin typeface="Google Sans"/>
              </a:rPr>
              <a:t>write</a:t>
            </a:r>
            <a:r>
              <a:rPr lang="en-US" b="0" i="0" dirty="0">
                <a:solidFill>
                  <a:srgbClr val="040C28"/>
                </a:solidFill>
                <a:effectLst/>
                <a:latin typeface="Google Sans"/>
              </a:rPr>
              <a:t> statement occurs in a program</a:t>
            </a:r>
            <a:r>
              <a:rPr lang="en-US" dirty="0">
                <a:solidFill>
                  <a:srgbClr val="202124"/>
                </a:solidFill>
                <a:latin typeface="Google Sans"/>
              </a:rPr>
              <a:t> for a page.</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provide title/header at the beginning of a new page.</a:t>
            </a:r>
          </a:p>
        </p:txBody>
      </p:sp>
    </p:spTree>
    <p:extLst>
      <p:ext uri="{BB962C8B-B14F-4D97-AF65-F5344CB8AC3E}">
        <p14:creationId xmlns:p14="http://schemas.microsoft.com/office/powerpoint/2010/main" val="321757756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End-of-Page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202124"/>
                </a:solidFill>
                <a:effectLst/>
                <a:latin typeface="Google Sans"/>
              </a:rPr>
              <a:t>This event </a:t>
            </a:r>
            <a:r>
              <a:rPr lang="en-US" dirty="0">
                <a:solidFill>
                  <a:srgbClr val="202124"/>
                </a:solidFill>
                <a:latin typeface="Google Sans"/>
              </a:rPr>
              <a:t>calls </a:t>
            </a:r>
            <a:r>
              <a:rPr lang="en-US" dirty="0">
                <a:solidFill>
                  <a:srgbClr val="040C28"/>
                </a:solidFill>
                <a:latin typeface="Google Sans"/>
              </a:rPr>
              <a:t>when </a:t>
            </a:r>
            <a:r>
              <a:rPr lang="en-US" b="0" i="0" dirty="0">
                <a:solidFill>
                  <a:srgbClr val="040C28"/>
                </a:solidFill>
                <a:effectLst/>
                <a:latin typeface="Google Sans"/>
              </a:rPr>
              <a:t>the last </a:t>
            </a:r>
            <a:r>
              <a:rPr lang="en-US" dirty="0">
                <a:solidFill>
                  <a:srgbClr val="040C28"/>
                </a:solidFill>
                <a:latin typeface="Google Sans"/>
              </a:rPr>
              <a:t>write</a:t>
            </a:r>
            <a:r>
              <a:rPr lang="en-US" b="0" i="0" dirty="0">
                <a:solidFill>
                  <a:srgbClr val="040C28"/>
                </a:solidFill>
                <a:effectLst/>
                <a:latin typeface="Google Sans"/>
              </a:rPr>
              <a:t> statement occurs in a program</a:t>
            </a:r>
            <a:r>
              <a:rPr lang="en-US" dirty="0">
                <a:solidFill>
                  <a:srgbClr val="202124"/>
                </a:solidFill>
                <a:latin typeface="Google Sans"/>
              </a:rPr>
              <a:t> for a page.</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provide footer or some information at the end of a new page.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end-of-page event to trigger, we need to provide the line-count.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LINE-COUNT 5(2), It means the total number of lines on a page is 5 and out of that 2 are reserved for end-of-page.</a:t>
            </a:r>
          </a:p>
        </p:txBody>
      </p:sp>
    </p:spTree>
    <p:extLst>
      <p:ext uri="{BB962C8B-B14F-4D97-AF65-F5344CB8AC3E}">
        <p14:creationId xmlns:p14="http://schemas.microsoft.com/office/powerpoint/2010/main" val="286307683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Selection-Screen Output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before displaying the selection screen/Input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modify the selection screen before it is displayed.</a:t>
            </a:r>
          </a:p>
        </p:txBody>
      </p:sp>
    </p:spTree>
    <p:extLst>
      <p:ext uri="{BB962C8B-B14F-4D97-AF65-F5344CB8AC3E}">
        <p14:creationId xmlns:p14="http://schemas.microsoft.com/office/powerpoint/2010/main" val="367705216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125506" y="357542"/>
            <a:ext cx="1116904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Initialization and AT Selection-Screen Output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Initialization event calls only first time before displaying the selection screen whereas at selection-screen output event calls every time before displaying a selection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Initialization event is to assign the default values to parameters and select-options whereas at selection-screen output event is used to modify the selection screen. </a:t>
            </a:r>
          </a:p>
        </p:txBody>
      </p:sp>
    </p:spTree>
    <p:extLst>
      <p:ext uri="{BB962C8B-B14F-4D97-AF65-F5344CB8AC3E}">
        <p14:creationId xmlns:p14="http://schemas.microsoft.com/office/powerpoint/2010/main" val="2295644027"/>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0" y="357542"/>
            <a:ext cx="1182258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AT Selection-Screen and AT Selection-Screen Output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selection-screen event calls when user performs some action (enter, click etc.) on to the selection screen whereas at selection-screen output event calls before displaying the selection-screen.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selection-screen event is to validate the input whereas at selection screen output is to used to modify the selection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selection-screen event is equal to PAI( Process After Input) of module pool whereas at selection-screen output is equal to PBO(Process Before Output) of module pool.</a:t>
            </a:r>
          </a:p>
        </p:txBody>
      </p:sp>
    </p:spTree>
    <p:extLst>
      <p:ext uri="{BB962C8B-B14F-4D97-AF65-F5344CB8AC3E}">
        <p14:creationId xmlns:p14="http://schemas.microsoft.com/office/powerpoint/2010/main" val="251149912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Selection-Screen On Value Request For &lt;Field&gt;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user clicks F4 on a field of selection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provide value help for an input field.</a:t>
            </a:r>
          </a:p>
        </p:txBody>
      </p:sp>
    </p:spTree>
    <p:extLst>
      <p:ext uri="{BB962C8B-B14F-4D97-AF65-F5344CB8AC3E}">
        <p14:creationId xmlns:p14="http://schemas.microsoft.com/office/powerpoint/2010/main" val="307302069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Selection-Screen On Help Request For &lt;Field&gt;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user clicks F1 on a field of selection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provide technical information for a field.</a:t>
            </a:r>
          </a:p>
        </p:txBody>
      </p:sp>
    </p:spTree>
    <p:extLst>
      <p:ext uri="{BB962C8B-B14F-4D97-AF65-F5344CB8AC3E}">
        <p14:creationId xmlns:p14="http://schemas.microsoft.com/office/powerpoint/2010/main" val="49334017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Selection-Screen On &lt;Field&gt;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calls when user performs some action (enter, click etc.) on to the selection screen.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event is used to validate a particular input field present on the selection screen.</a:t>
            </a:r>
          </a:p>
        </p:txBody>
      </p:sp>
    </p:spTree>
    <p:extLst>
      <p:ext uri="{BB962C8B-B14F-4D97-AF65-F5344CB8AC3E}">
        <p14:creationId xmlns:p14="http://schemas.microsoft.com/office/powerpoint/2010/main" val="125538797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0" y="357542"/>
            <a:ext cx="1182258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AT Selection-Screen and AT Selection-Screen On &lt;Field&gt;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selection-screen event is used to validate multiple input fields whereas at selection-screen on &lt;field&gt; event is to validate a particular input field present on the selection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case of at selection-screen event to highlight a wrong input field the explicit logic is required, whereas in at selection screen on &lt;field&gt; the wrong input field highlighted automatically.</a:t>
            </a:r>
          </a:p>
        </p:txBody>
      </p:sp>
    </p:spTree>
    <p:extLst>
      <p:ext uri="{BB962C8B-B14F-4D97-AF65-F5344CB8AC3E}">
        <p14:creationId xmlns:p14="http://schemas.microsoft.com/office/powerpoint/2010/main" val="148655944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0" y="357542"/>
            <a:ext cx="11822580"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AT Selection-Screen and AT Selection-Screen On &lt;Field&gt;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case of at selection-screen event all input fields remain enable after the wrong input whereas in case of at selection-screen on &lt;field&gt; event the wrong input field remain enable and other input fields become disable.</a:t>
            </a:r>
          </a:p>
        </p:txBody>
      </p:sp>
    </p:spTree>
    <p:extLst>
      <p:ext uri="{BB962C8B-B14F-4D97-AF65-F5344CB8AC3E}">
        <p14:creationId xmlns:p14="http://schemas.microsoft.com/office/powerpoint/2010/main" val="265452745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Interactive Classical Report Events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classical report we only display the output on basic list . There is no interaction with the output.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Interactive classical report is one we interact with the output on basic list and it take us to secondary list.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Basic list is the list which is generated at first by our ABAP program.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secondary lists are generated by further navigation or user selection from the basic list.</a:t>
            </a:r>
          </a:p>
        </p:txBody>
      </p:sp>
    </p:spTree>
    <p:extLst>
      <p:ext uri="{BB962C8B-B14F-4D97-AF65-F5344CB8AC3E}">
        <p14:creationId xmlns:p14="http://schemas.microsoft.com/office/powerpoint/2010/main" val="162556412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Interactive Classical Report Events(Contd.)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number of basic list in classical report is 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number of secondary lists in classical report is 20.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interactive classical report events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line-selection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user-command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IN" b="0" i="0" dirty="0">
                <a:solidFill>
                  <a:srgbClr val="3C3C3C"/>
                </a:solidFill>
                <a:effectLst/>
                <a:latin typeface="BentonSansBook"/>
              </a:rPr>
              <a:t>Top-of-page during line-selection</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028630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Line-Selection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user double clicks on the line or select a line and press F2 or select a line and click choose at that time at line-selection event triggers.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434093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AT User-Command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user clicks on the functions created using pf-status, at that time at user-command event triggers.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system variable sy-ucomm is used to capture the value of function code.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263187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39</a:t>
            </a:fld>
            <a:endParaRPr dirty="0"/>
          </a:p>
        </p:txBody>
      </p:sp>
      <p:sp>
        <p:nvSpPr>
          <p:cNvPr id="207" name="TextBox 17"/>
          <p:cNvSpPr txBox="1"/>
          <p:nvPr/>
        </p:nvSpPr>
        <p:spPr>
          <a:xfrm>
            <a:off x="443160" y="357542"/>
            <a:ext cx="1085139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Top-of-Page During Line-Selection</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202124"/>
                </a:solidFill>
                <a:latin typeface="Google Sans"/>
              </a:rPr>
              <a:t>This </a:t>
            </a:r>
            <a:r>
              <a:rPr lang="en-US" b="0" i="0" dirty="0">
                <a:solidFill>
                  <a:srgbClr val="202124"/>
                </a:solidFill>
                <a:effectLst/>
                <a:latin typeface="Google Sans"/>
              </a:rPr>
              <a:t>event </a:t>
            </a:r>
            <a:r>
              <a:rPr lang="en-US" dirty="0">
                <a:solidFill>
                  <a:srgbClr val="202124"/>
                </a:solidFill>
                <a:latin typeface="Google Sans"/>
              </a:rPr>
              <a:t>calls </a:t>
            </a:r>
            <a:r>
              <a:rPr lang="en-US" b="0" i="0" dirty="0">
                <a:solidFill>
                  <a:srgbClr val="040C28"/>
                </a:solidFill>
                <a:effectLst/>
                <a:latin typeface="Google Sans"/>
              </a:rPr>
              <a:t>when the first WRITE statement occurs in a program</a:t>
            </a:r>
            <a:r>
              <a:rPr lang="en-US" dirty="0">
                <a:solidFill>
                  <a:srgbClr val="202124"/>
                </a:solidFill>
                <a:latin typeface="Google Sans"/>
              </a:rPr>
              <a:t> for a page on secondary list.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purpose of this event is to provide title/header at the beginning of a new page on secondary list.</a:t>
            </a:r>
            <a:endParaRPr lang="en-US" dirty="0">
              <a:solidFill>
                <a:srgbClr val="202124"/>
              </a:solidFill>
              <a:latin typeface="Google San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70199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40</a:t>
            </a:fld>
            <a:endParaRPr dirty="0"/>
          </a:p>
        </p:txBody>
      </p:sp>
      <p:sp>
        <p:nvSpPr>
          <p:cNvPr id="207" name="TextBox 17"/>
          <p:cNvSpPr txBox="1"/>
          <p:nvPr/>
        </p:nvSpPr>
        <p:spPr>
          <a:xfrm>
            <a:off x="443160" y="357542"/>
            <a:ext cx="1085139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Interactive Classical Reports Statements - HIDE</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3C3C3C"/>
                </a:solidFill>
                <a:effectLst/>
                <a:latin typeface="BentonSansBook"/>
              </a:rPr>
              <a:t>The HIDE statement is one of the fundamental statements for interactive reporting.</a:t>
            </a:r>
            <a:endParaRPr lang="en-US" dirty="0">
              <a:solidFill>
                <a:srgbClr val="3C3C3C"/>
              </a:solidFill>
              <a:latin typeface="BentonSansBook"/>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W</a:t>
            </a:r>
            <a:r>
              <a:rPr lang="en-US" b="0" i="0" dirty="0">
                <a:solidFill>
                  <a:srgbClr val="3C3C3C"/>
                </a:solidFill>
                <a:effectLst/>
                <a:latin typeface="BentonSansBook"/>
              </a:rPr>
              <a:t>e can use HIDE </a:t>
            </a:r>
            <a:r>
              <a:rPr lang="en-US" dirty="0">
                <a:solidFill>
                  <a:srgbClr val="3C3C3C"/>
                </a:solidFill>
                <a:latin typeface="BentonSansBook"/>
              </a:rPr>
              <a:t>statement</a:t>
            </a:r>
            <a:r>
              <a:rPr lang="en-US" b="0" i="0" dirty="0">
                <a:solidFill>
                  <a:srgbClr val="3C3C3C"/>
                </a:solidFill>
                <a:effectLst/>
                <a:latin typeface="BentonSansBook"/>
              </a:rPr>
              <a:t> to store the line-specific information while creating a basic list.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This stored information will be used while creating secondary list.</a:t>
            </a:r>
            <a:endParaRPr lang="en-US" b="0" i="0" dirty="0">
              <a:solidFill>
                <a:srgbClr val="3C3C3C"/>
              </a:solidFill>
              <a:effectLst/>
              <a:latin typeface="BentonSansBook"/>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Syntax : </a:t>
            </a:r>
            <a:r>
              <a:rPr lang="en-US" dirty="0">
                <a:solidFill>
                  <a:srgbClr val="202124"/>
                </a:solidFill>
                <a:latin typeface="Google Sans"/>
              </a:rPr>
              <a:t> HIDE &lt;f&gt;.</a:t>
            </a:r>
            <a:endParaRPr lang="en-US" b="0" i="0" dirty="0">
              <a:solidFill>
                <a:srgbClr val="3C3C3C"/>
              </a:solidFill>
              <a:effectLst/>
              <a:latin typeface="BentonSansBook"/>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The above </a:t>
            </a:r>
            <a:r>
              <a:rPr lang="en-US" b="0" i="0" dirty="0">
                <a:solidFill>
                  <a:srgbClr val="3C3C3C"/>
                </a:solidFill>
                <a:effectLst/>
                <a:latin typeface="BentonSansBook"/>
              </a:rPr>
              <a:t>statement places the contents of the variable &lt;f&gt; into the HIDE area</a:t>
            </a:r>
            <a:r>
              <a:rPr lang="en-US" dirty="0">
                <a:solidFill>
                  <a:srgbClr val="3C3C3C"/>
                </a:solidFill>
                <a:latin typeface="BentonSansBook"/>
              </a:rPr>
              <a:t>. </a:t>
            </a:r>
            <a:endParaRPr lang="en-US" dirty="0">
              <a:solidFill>
                <a:srgbClr val="202124"/>
              </a:solidFill>
              <a:latin typeface="Google San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dirty="0">
              <a:solidFill>
                <a:srgbClr val="202124"/>
              </a:solidFill>
              <a:latin typeface="Google Sans"/>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999041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41</a:t>
            </a:fld>
            <a:endParaRPr dirty="0"/>
          </a:p>
        </p:txBody>
      </p:sp>
      <p:sp>
        <p:nvSpPr>
          <p:cNvPr id="207" name="TextBox 17"/>
          <p:cNvSpPr txBox="1"/>
          <p:nvPr/>
        </p:nvSpPr>
        <p:spPr>
          <a:xfrm>
            <a:off x="443160" y="357542"/>
            <a:ext cx="1085139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Interactive Classical Reports Statements - HIDE(Contd.)</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We can consider hide area as a table which stores the field name, field value and line number(</a:t>
            </a:r>
            <a:r>
              <a:rPr lang="en-US" b="0" i="0" dirty="0">
                <a:solidFill>
                  <a:srgbClr val="3C3C3C"/>
                </a:solidFill>
                <a:effectLst/>
                <a:latin typeface="BentonSansBook"/>
              </a:rPr>
              <a:t>system variable SY-LINNO).</a:t>
            </a:r>
            <a:endParaRPr lang="en-US" dirty="0">
              <a:solidFill>
                <a:srgbClr val="3C3C3C"/>
              </a:solidFill>
              <a:latin typeface="BentonSansBook"/>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The various pre requisites for HIDE statement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dirty="0">
                <a:solidFill>
                  <a:srgbClr val="3C3C3C"/>
                </a:solidFill>
                <a:latin typeface="BentonSansBook"/>
              </a:rPr>
              <a:t>HIDE statement must be written after the WRITE statement.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dirty="0">
                <a:solidFill>
                  <a:srgbClr val="3C3C3C"/>
                </a:solidFill>
                <a:latin typeface="BentonSansBook"/>
              </a:rPr>
              <a:t>HIDE statement must be called inside the loop.</a:t>
            </a:r>
            <a:endParaRPr lang="en-US" dirty="0">
              <a:solidFill>
                <a:srgbClr val="202124"/>
              </a:solidFill>
              <a:latin typeface="Google San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dirty="0">
              <a:solidFill>
                <a:srgbClr val="202124"/>
              </a:solidFill>
              <a:latin typeface="Google Sans"/>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8034582"/>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42</a:t>
            </a:fld>
            <a:endParaRPr dirty="0"/>
          </a:p>
        </p:txBody>
      </p:sp>
      <p:sp>
        <p:nvSpPr>
          <p:cNvPr id="207" name="TextBox 17"/>
          <p:cNvSpPr txBox="1"/>
          <p:nvPr/>
        </p:nvSpPr>
        <p:spPr>
          <a:xfrm>
            <a:off x="242191" y="357542"/>
            <a:ext cx="11654130"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Interactive Classical Reports Statements - Working of HIDE</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3C3C3C"/>
                </a:solidFill>
                <a:latin typeface="BentonSansBook"/>
              </a:rPr>
              <a:t>The user selects a line for which data has been stored in the HIDE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202124"/>
                </a:solidFill>
                <a:latin typeface="Google Sans"/>
              </a:rPr>
              <a:t>The system variable SY-LILLI determines the selected line.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202124"/>
                </a:solidFill>
                <a:latin typeface="Google Sans"/>
              </a:rPr>
              <a:t>The runtime system jumps to the point in the HIDE area where data for this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dirty="0">
                <a:solidFill>
                  <a:srgbClr val="202124"/>
                </a:solidFill>
                <a:latin typeface="Google Sans"/>
              </a:rPr>
              <a:t>       line is stored.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C3C3C"/>
                </a:solidFill>
                <a:latin typeface="BentonSansBook"/>
              </a:rPr>
              <a:t>The runtime system then inserts all values stored for the selected line into their corresponding fields.</a:t>
            </a:r>
            <a:endParaRPr lang="en-US" dirty="0">
              <a:solidFill>
                <a:srgbClr val="202124"/>
              </a:solidFill>
              <a:latin typeface="Google Sans"/>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1315624"/>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43</a:t>
            </a:fld>
            <a:endParaRPr dirty="0"/>
          </a:p>
        </p:txBody>
      </p:sp>
      <p:sp>
        <p:nvSpPr>
          <p:cNvPr id="207" name="TextBox 17"/>
          <p:cNvSpPr txBox="1"/>
          <p:nvPr/>
        </p:nvSpPr>
        <p:spPr>
          <a:xfrm>
            <a:off x="443160" y="357542"/>
            <a:ext cx="1085139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Interactive Classical Reports Statements - GET CURSOR</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interactive classical reports,  GET CURSOR statement is used to create secondary lists according to the cursor position.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parameter FIELD provides the name of an output field. The parameter VALUE provide the output value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GET CURSOR FIELD &lt;lv_field&gt; VALUE &lt;lv_value&gt;.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 the field name and field value will be returned in to variables lv_field and lv_value respectively.</a:t>
            </a:r>
          </a:p>
        </p:txBody>
      </p:sp>
    </p:spTree>
    <p:extLst>
      <p:ext uri="{BB962C8B-B14F-4D97-AF65-F5344CB8AC3E}">
        <p14:creationId xmlns:p14="http://schemas.microsoft.com/office/powerpoint/2010/main" val="203130114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44</a:t>
            </a:fld>
            <a:endParaRPr dirty="0"/>
          </a:p>
        </p:txBody>
      </p:sp>
      <p:sp>
        <p:nvSpPr>
          <p:cNvPr id="207" name="TextBox 17"/>
          <p:cNvSpPr txBox="1"/>
          <p:nvPr/>
        </p:nvSpPr>
        <p:spPr>
          <a:xfrm>
            <a:off x="443160" y="357542"/>
            <a:ext cx="1085139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Comparison of HIDE and GET CURSOR Statements</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HIDE statement responds for a particular line whereas GET CURSOR statement responds for a particular field.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HIDE statement is used to store the line with line number in the hide area whereas GET CURSOR is used to store the value of the selected field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With HIDE statement, we can not display secondary lists based upon Individual field name and field value whereas with GET CURSOR statement we can display secondary lists based upon the Individual field name and field value.  </a:t>
            </a:r>
          </a:p>
        </p:txBody>
      </p:sp>
    </p:spTree>
    <p:extLst>
      <p:ext uri="{BB962C8B-B14F-4D97-AF65-F5344CB8AC3E}">
        <p14:creationId xmlns:p14="http://schemas.microsoft.com/office/powerpoint/2010/main" val="366818568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System Variables in Interactive Classical Report Events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system variables used in interactive classical report events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SY-LISEL - It is a system variable which returns the contents of the selected line.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SY-LILLI - Absolute number of a selected line in the list displayed.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SY-LSIND - It is a system variable which returns the index of the displayed list. For the basic list SY-LSIND = 0 and for the secondary lists SY-LSIND &gt; 0.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2505985"/>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Control Break Statements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Control break statements are also called as control break events.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Control break statements are used to control loop or we can say they are used to control the data flow in loop.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Control break statements starts with at and ends with endat.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pre-requisites to apply control break statements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Control break statements should be applied inside a loop.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Internal table should be in the sorted order.</a:t>
            </a:r>
          </a:p>
        </p:txBody>
      </p:sp>
    </p:spTree>
    <p:extLst>
      <p:ext uri="{BB962C8B-B14F-4D97-AF65-F5344CB8AC3E}">
        <p14:creationId xmlns:p14="http://schemas.microsoft.com/office/powerpoint/2010/main" val="1828899586"/>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Control Break Statements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various control break statements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FIRST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LAST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NEW &lt;fieldname&gt;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END OF &lt;fieldname&gt;</a:t>
            </a:r>
          </a:p>
        </p:txBody>
      </p:sp>
    </p:spTree>
    <p:extLst>
      <p:ext uri="{BB962C8B-B14F-4D97-AF65-F5344CB8AC3E}">
        <p14:creationId xmlns:p14="http://schemas.microsoft.com/office/powerpoint/2010/main" val="231148347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Control Break Statements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FIRST - It triggers for the first row/first record/first iteration of the internal table in loop.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LAST - It triggers for the last row/last record/last iteration of the internal table in loop.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NEW &lt;fieldname&gt; - It triggers for the new/first record of a group having the same value for the specified fieldname in loop.</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6770289"/>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Control Break Statements(Contd.)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AT END OF &lt;fieldname&gt; - It triggers for the end/last record of a group having the same value for the specified fieldname in loop.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3119981"/>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Control Break Statements With SUM Statement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SUM statement can only be used in loop- endloop statement and needs to be applied in control break statements(at and endat).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SUM calculates the sum of all numeric fields to the right of the current group key.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sum is for all rows of the current group and assign it to the corresponding fields of the workarea.</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143806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Control Break Statements - Important Points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Always sort the internal table based upon the fieldname used in AT NEW&lt;fieldname&gt; or AT END OF &lt;fieldname&gt;.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event AT NEW &lt;fieldname&gt; and AT END OF &lt;fieldname&gt; also triggers if the value of other fields change which are present on the left hand side of specified fieldname. If we want AT NEW &lt;fieldname&gt; and AT END OF &lt;fieldname&gt; to trigger based on specified fieldname only , then we need to take specified fieldname at the first position in the internal table.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9229917"/>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Control Break Statements - Important Points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AT FIRST and AT LAST control break events triggers all character field values converted to **** and all numeric field values converted to 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Whenever AT NEW &lt;fieldname&gt; and AT END OF &lt;fieldname&gt; triggers the value of character fields on the right hand side of specified fieldname converted to **** and numeric field values converted to 0.</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solidFill>
                  <a:srgbClr val="3B3838"/>
                </a:solidFill>
                <a:latin typeface="Calibri" panose="020F0502020204030204" pitchFamily="34" charset="0"/>
                <a:cs typeface="Calibri" panose="020F0502020204030204" pitchFamily="34" charset="0"/>
              </a:rPr>
              <a:t>Solution</a:t>
            </a:r>
            <a:r>
              <a:rPr lang="en-US" sz="2400" dirty="0">
                <a:solidFill>
                  <a:srgbClr val="3B3838"/>
                </a:solidFill>
                <a:latin typeface="Calibri" panose="020F0502020204030204" pitchFamily="34" charset="0"/>
                <a:cs typeface="Calibri" panose="020F0502020204030204" pitchFamily="34" charset="0"/>
              </a:rPr>
              <a:t> :  Store the values in a temporary work area before any of the control break event triggers.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894466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Database Operations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Database operations deals with database tables. The various database operations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Select - Select is used to fetch data from database tables.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Insert - Insert is used to insert the records to database tables.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Update - Update is used to update the existing records in the database tables.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Delete - Delete is used to delete the existing records from database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3478405"/>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Database Operations(Contd.)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Modify -  It works for both - insert + update. For existing records - It acts as update, for non-existing records - it acts as Insert.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5247187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Report Variant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we run the same program with the same set of input or selections, so instead of passing the input every time, we can save the input values in a selection set which is called a variant.</a:t>
            </a:r>
          </a:p>
        </p:txBody>
      </p:sp>
    </p:spTree>
    <p:extLst>
      <p:ext uri="{BB962C8B-B14F-4D97-AF65-F5344CB8AC3E}">
        <p14:creationId xmlns:p14="http://schemas.microsoft.com/office/powerpoint/2010/main" val="1877698875"/>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Field Symbols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Field symbols are placeholders for the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Field symbols do not reserve any physical memory space, but point to the content of the data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After declaring a field symbol, we can assign the data object to the field symbol.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After successful assignment, Whenever we address a field symbol, ultimately we are addressing the data object that is assigned to that field symbol.</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520028"/>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Field Symbols(Contd.)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Syntax : FIELD-SYMBOLS &lt;fs&gt;.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FIELD-SYMBOLS = keyword , where fs is the name of the field symbol. The name of the field symbol is always enclosed between &lt;&gt;.</a:t>
            </a:r>
          </a:p>
        </p:txBody>
      </p:sp>
    </p:spTree>
    <p:extLst>
      <p:ext uri="{BB962C8B-B14F-4D97-AF65-F5344CB8AC3E}">
        <p14:creationId xmlns:p14="http://schemas.microsoft.com/office/powerpoint/2010/main" val="1757863456"/>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Field Symbols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Field symbols are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Typed field symbol.</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Generic field symbol.</a:t>
            </a:r>
          </a:p>
        </p:txBody>
      </p:sp>
    </p:spTree>
    <p:extLst>
      <p:ext uri="{BB962C8B-B14F-4D97-AF65-F5344CB8AC3E}">
        <p14:creationId xmlns:p14="http://schemas.microsoft.com/office/powerpoint/2010/main" val="1959508431"/>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Typed Field Symbol</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we provide the data type like elementary, complex etc. to the field symbol, then it is called as typed field symbol.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3C3C3C"/>
                </a:solidFill>
                <a:effectLst/>
                <a:latin typeface="BentonSansBook"/>
              </a:rPr>
              <a:t>If </a:t>
            </a:r>
            <a:r>
              <a:rPr lang="en-US" dirty="0">
                <a:solidFill>
                  <a:srgbClr val="3C3C3C"/>
                </a:solidFill>
                <a:latin typeface="BentonSansBook"/>
              </a:rPr>
              <a:t>we </a:t>
            </a:r>
            <a:r>
              <a:rPr lang="en-US" b="0" i="0" dirty="0">
                <a:solidFill>
                  <a:srgbClr val="3C3C3C"/>
                </a:solidFill>
                <a:effectLst/>
                <a:latin typeface="BentonSansBook"/>
              </a:rPr>
              <a:t>specify a type to the field symbol , the system checks the compatibility of the field symbol and the data object assigned to that field symbol.</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FIELD-SYMBOLS : &lt;fs&gt; TYPE I.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In the above syntax, the field symbol is of elementary data type Integer(I).</a:t>
            </a:r>
          </a:p>
        </p:txBody>
      </p:sp>
    </p:spTree>
    <p:extLst>
      <p:ext uri="{BB962C8B-B14F-4D97-AF65-F5344CB8AC3E}">
        <p14:creationId xmlns:p14="http://schemas.microsoft.com/office/powerpoint/2010/main" val="554536611"/>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Generic Field Symbol</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When we provide the generic data types like ANY and ANY TABLE to the field symbol, then it is called as generic field symbol.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Generic field symbols are used for dynamic programming.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Example - FIELD-SYMBOLS : &lt;fs_str&gt; TYPE ANY.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FIELD-SYMBOLS : &lt;ft_tab&gt; TYPE ANY TABLE.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0917846"/>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Field Symbol as a Replacement of Work Area</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28216" y="51897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We can replace work area by field symbol while performing internal table operations.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is because work area stores a copy of the internal table row, whereas field symbol directly references the internal table row.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3C3C3C"/>
                </a:solidFill>
                <a:effectLst/>
                <a:latin typeface="BentonSansRegular"/>
              </a:rPr>
              <a:t>Hence processing of internal table with field symbol is faster than the processing of internal table with work area.</a:t>
            </a:r>
            <a:endParaRPr 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0164032"/>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Modify the Internal Table Contents Using Field Symbols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28216" y="51897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444444"/>
                </a:solidFill>
                <a:effectLst/>
                <a:latin typeface="BentonSansRegular"/>
              </a:rPr>
              <a:t>We can declare a field symbol of type any structure, which we can use while looping through an internal table.</a:t>
            </a:r>
            <a:endParaRPr lang="en-US" sz="2400" b="0" i="0" dirty="0">
              <a:solidFill>
                <a:srgbClr val="3B3838"/>
              </a:solidFill>
              <a:effectLst/>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If we change any field of structure in field symbol, the corresponding field in internal will get updated.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 So , there is no need to write the MODIFY statement when we use field symbols to modify the contents of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4068632"/>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63</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ppt/theme/themeOverride2.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5879</TotalTime>
  <Words>3409</Words>
  <Application>Microsoft Office PowerPoint</Application>
  <PresentationFormat>Widescreen</PresentationFormat>
  <Paragraphs>331</Paragraphs>
  <Slides>63</Slides>
  <Notes>63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BentonSansBook</vt:lpstr>
      <vt:lpstr>BentonSansRegular</vt:lpstr>
      <vt:lpstr>Calibri</vt:lpstr>
      <vt:lpstr>Calibri Light</vt:lpstr>
      <vt:lpstr>Google Sans</vt:lpstr>
      <vt:lpstr>inherit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2574</cp:revision>
  <dcterms:modified xsi:type="dcterms:W3CDTF">2024-06-19T08:16:12Z</dcterms:modified>
</cp:coreProperties>
</file>