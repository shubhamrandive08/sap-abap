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heme/themeOverride1.xml" ContentType="application/vnd.openxmlformats-officedocument.themeOverr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0"/>
  </p:notesMasterIdLst>
  <p:sldIdLst>
    <p:sldId id="259" r:id="rId2"/>
    <p:sldId id="837" r:id="rId3"/>
    <p:sldId id="909" r:id="rId4"/>
    <p:sldId id="910" r:id="rId5"/>
    <p:sldId id="912" r:id="rId6"/>
    <p:sldId id="913" r:id="rId7"/>
    <p:sldId id="914" r:id="rId8"/>
    <p:sldId id="915" r:id="rId9"/>
    <p:sldId id="916" r:id="rId10"/>
    <p:sldId id="917" r:id="rId11"/>
    <p:sldId id="918" r:id="rId12"/>
    <p:sldId id="919" r:id="rId13"/>
    <p:sldId id="920" r:id="rId14"/>
    <p:sldId id="921" r:id="rId15"/>
    <p:sldId id="922" r:id="rId16"/>
    <p:sldId id="923" r:id="rId17"/>
    <p:sldId id="924" r:id="rId18"/>
    <p:sldId id="925" r:id="rId19"/>
    <p:sldId id="926" r:id="rId20"/>
    <p:sldId id="1038" r:id="rId21"/>
    <p:sldId id="927" r:id="rId22"/>
    <p:sldId id="928" r:id="rId23"/>
    <p:sldId id="929" r:id="rId24"/>
    <p:sldId id="930" r:id="rId25"/>
    <p:sldId id="911" r:id="rId26"/>
    <p:sldId id="931" r:id="rId27"/>
    <p:sldId id="932" r:id="rId28"/>
    <p:sldId id="933" r:id="rId29"/>
    <p:sldId id="934" r:id="rId30"/>
    <p:sldId id="935" r:id="rId31"/>
    <p:sldId id="936" r:id="rId32"/>
    <p:sldId id="937" r:id="rId33"/>
    <p:sldId id="938" r:id="rId34"/>
    <p:sldId id="939" r:id="rId35"/>
    <p:sldId id="940" r:id="rId36"/>
    <p:sldId id="941" r:id="rId37"/>
    <p:sldId id="942" r:id="rId38"/>
    <p:sldId id="943" r:id="rId39"/>
    <p:sldId id="944" r:id="rId40"/>
    <p:sldId id="945" r:id="rId41"/>
    <p:sldId id="946" r:id="rId42"/>
    <p:sldId id="947" r:id="rId43"/>
    <p:sldId id="948" r:id="rId44"/>
    <p:sldId id="1039" r:id="rId45"/>
    <p:sldId id="1041" r:id="rId46"/>
    <p:sldId id="838" r:id="rId47"/>
    <p:sldId id="949" r:id="rId48"/>
    <p:sldId id="950" r:id="rId49"/>
    <p:sldId id="952" r:id="rId50"/>
    <p:sldId id="953" r:id="rId51"/>
    <p:sldId id="1032" r:id="rId52"/>
    <p:sldId id="955" r:id="rId53"/>
    <p:sldId id="1033" r:id="rId54"/>
    <p:sldId id="959" r:id="rId55"/>
    <p:sldId id="960" r:id="rId56"/>
    <p:sldId id="961" r:id="rId57"/>
    <p:sldId id="962" r:id="rId58"/>
    <p:sldId id="908" r:id="rId59"/>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hul Mehta" initials="RM" lastIdx="2" clrIdx="0">
    <p:extLst>
      <p:ext uri="{19B8F6BF-5375-455C-9EA6-DF929625EA0E}">
        <p15:presenceInfo xmlns:p15="http://schemas.microsoft.com/office/powerpoint/2012/main" userId="933d9a34e87d859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18" autoAdjust="0"/>
    <p:restoredTop sz="86409" autoAdjust="0"/>
  </p:normalViewPr>
  <p:slideViewPr>
    <p:cSldViewPr snapToGrid="0">
      <p:cViewPr varScale="1">
        <p:scale>
          <a:sx n="85" d="100"/>
          <a:sy n="85" d="100"/>
        </p:scale>
        <p:origin x="672" y="48"/>
      </p:cViewPr>
      <p:guideLst/>
    </p:cSldViewPr>
  </p:slideViewPr>
  <p:outlineViewPr>
    <p:cViewPr>
      <p:scale>
        <a:sx n="33" d="100"/>
        <a:sy n="33" d="100"/>
      </p:scale>
      <p:origin x="0" y="-6749"/>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commentAuthors" Target="commen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 name="Shape 92"/>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93" name="Shape 9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6631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31898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426917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641780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149181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940542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69514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0591360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1100375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377073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0447082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985232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851714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391160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935055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844387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927225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673726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7790945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852990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09690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749692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522370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670954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519943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275533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35524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219661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669554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761726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747208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531272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0527305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3925951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619155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199150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595453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896079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116169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760355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729489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7441528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916361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8052150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3746434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260496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439985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a:t>
            </a:r>
            <a:endParaRPr lang="en-IN" dirty="0"/>
          </a:p>
        </p:txBody>
      </p:sp>
    </p:spTree>
    <p:extLst>
      <p:ext uri="{BB962C8B-B14F-4D97-AF65-F5344CB8AC3E}">
        <p14:creationId xmlns:p14="http://schemas.microsoft.com/office/powerpoint/2010/main" val="185752525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2014372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5322152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2155172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0126381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959553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125126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0048838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5480684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8615712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97586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1" name="Title Text"/>
          <p:cNvSpPr txBox="1">
            <a:spLocks noGrp="1"/>
          </p:cNvSpPr>
          <p:nvPr>
            <p:ph type="title"/>
          </p:nvPr>
        </p:nvSpPr>
        <p:spPr>
          <a:prstGeom prst="rect">
            <a:avLst/>
          </a:prstGeom>
        </p:spPr>
        <p:txBody>
          <a:bodyPr/>
          <a:lstStyle/>
          <a:p>
            <a:r>
              <a:t>Title Text</a:t>
            </a:r>
          </a:p>
        </p:txBody>
      </p:sp>
      <p:sp>
        <p:nvSpPr>
          <p:cNvPr id="2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831852" y="1709738"/>
            <a:ext cx="10515601" cy="2852737"/>
          </a:xfrm>
          <a:prstGeom prst="rect">
            <a:avLst/>
          </a:prstGeom>
        </p:spPr>
        <p:txBody>
          <a:bodyPr anchor="b"/>
          <a:lstStyle>
            <a:lvl1pPr>
              <a:defRPr sz="6000"/>
            </a:lvl1pPr>
          </a:lstStyle>
          <a:p>
            <a:r>
              <a:t>Title Text</a:t>
            </a:r>
          </a:p>
        </p:txBody>
      </p:sp>
      <p:sp>
        <p:nvSpPr>
          <p:cNvPr id="31" name="Body Level One…"/>
          <p:cNvSpPr txBox="1">
            <a:spLocks noGrp="1"/>
          </p:cNvSpPr>
          <p:nvPr>
            <p:ph type="body" sz="quarter" idx="1"/>
          </p:nvPr>
        </p:nvSpPr>
        <p:spPr>
          <a:xfrm>
            <a:off x="831852" y="4589464"/>
            <a:ext cx="10515601" cy="1500188"/>
          </a:xfrm>
          <a:prstGeom prst="rect">
            <a:avLst/>
          </a:prstGeom>
        </p:spPr>
        <p:txBody>
          <a:bodyPr/>
          <a:lstStyle>
            <a:lvl1pPr marL="0" indent="0">
              <a:buSzTx/>
              <a:buFontTx/>
              <a:buNone/>
              <a:defRPr sz="2400">
                <a:solidFill>
                  <a:srgbClr val="888888"/>
                </a:solidFill>
              </a:defRPr>
            </a:lvl1pPr>
            <a:lvl2pPr marL="0" indent="457206">
              <a:buSzTx/>
              <a:buFontTx/>
              <a:buNone/>
              <a:defRPr sz="2400">
                <a:solidFill>
                  <a:srgbClr val="888888"/>
                </a:solidFill>
              </a:defRPr>
            </a:lvl2pPr>
            <a:lvl3pPr marL="0" indent="914411">
              <a:buSzTx/>
              <a:buFontTx/>
              <a:buNone/>
              <a:defRPr sz="2400">
                <a:solidFill>
                  <a:srgbClr val="888888"/>
                </a:solidFill>
              </a:defRPr>
            </a:lvl3pPr>
            <a:lvl4pPr marL="0" indent="1371616">
              <a:buSzTx/>
              <a:buFontTx/>
              <a:buNone/>
              <a:defRPr sz="2400">
                <a:solidFill>
                  <a:srgbClr val="888888"/>
                </a:solidFill>
              </a:defRPr>
            </a:lvl4pPr>
            <a:lvl5pPr marL="0" indent="1828823">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2"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39" name="Title Text"/>
          <p:cNvSpPr txBox="1">
            <a:spLocks noGrp="1"/>
          </p:cNvSpPr>
          <p:nvPr>
            <p:ph type="title"/>
          </p:nvPr>
        </p:nvSpPr>
        <p:spPr>
          <a:prstGeom prst="rect">
            <a:avLst/>
          </a:prstGeom>
        </p:spPr>
        <p:txBody>
          <a:bodyPr/>
          <a:lstStyle/>
          <a:p>
            <a:r>
              <a:t>Title Text</a:t>
            </a:r>
          </a:p>
        </p:txBody>
      </p:sp>
      <p:sp>
        <p:nvSpPr>
          <p:cNvPr id="40" name="Body Level One…"/>
          <p:cNvSpPr txBox="1">
            <a:spLocks noGrp="1"/>
          </p:cNvSpPr>
          <p:nvPr>
            <p:ph type="body" sz="half" idx="1"/>
          </p:nvPr>
        </p:nvSpPr>
        <p:spPr>
          <a:xfrm>
            <a:off x="838200" y="1825625"/>
            <a:ext cx="5181601"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48" name="Title Text"/>
          <p:cNvSpPr txBox="1">
            <a:spLocks noGrp="1"/>
          </p:cNvSpPr>
          <p:nvPr>
            <p:ph type="title"/>
          </p:nvPr>
        </p:nvSpPr>
        <p:spPr>
          <a:xfrm>
            <a:off x="839788" y="365125"/>
            <a:ext cx="10515601" cy="1325563"/>
          </a:xfrm>
          <a:prstGeom prst="rect">
            <a:avLst/>
          </a:prstGeom>
        </p:spPr>
        <p:txBody>
          <a:bodyPr/>
          <a:lstStyle/>
          <a:p>
            <a:r>
              <a:t>Title Text</a:t>
            </a:r>
          </a:p>
        </p:txBody>
      </p:sp>
      <p:sp>
        <p:nvSpPr>
          <p:cNvPr id="49" name="Body Level One…"/>
          <p:cNvSpPr txBox="1">
            <a:spLocks noGrp="1"/>
          </p:cNvSpPr>
          <p:nvPr>
            <p:ph type="body" sz="quarter" idx="1"/>
          </p:nvPr>
        </p:nvSpPr>
        <p:spPr>
          <a:xfrm>
            <a:off x="839788" y="1681163"/>
            <a:ext cx="5157789" cy="823913"/>
          </a:xfrm>
          <a:prstGeom prst="rect">
            <a:avLst/>
          </a:prstGeom>
        </p:spPr>
        <p:txBody>
          <a:bodyPr anchor="b"/>
          <a:lstStyle>
            <a:lvl1pPr marL="0" indent="0">
              <a:buSzTx/>
              <a:buFontTx/>
              <a:buNone/>
              <a:defRPr sz="2400" b="1"/>
            </a:lvl1pPr>
            <a:lvl2pPr marL="0" indent="457206">
              <a:buSzTx/>
              <a:buFontTx/>
              <a:buNone/>
              <a:defRPr sz="2400" b="1"/>
            </a:lvl2pPr>
            <a:lvl3pPr marL="0" indent="914411">
              <a:buSzTx/>
              <a:buFontTx/>
              <a:buNone/>
              <a:defRPr sz="2400" b="1"/>
            </a:lvl3pPr>
            <a:lvl4pPr marL="0" indent="1371616">
              <a:buSzTx/>
              <a:buFontTx/>
              <a:buNone/>
              <a:defRPr sz="2400" b="1"/>
            </a:lvl4pPr>
            <a:lvl5pPr marL="0" indent="1828823">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0" name="Text Placeholder 4"/>
          <p:cNvSpPr>
            <a:spLocks noGrp="1"/>
          </p:cNvSpPr>
          <p:nvPr>
            <p:ph type="body" sz="quarter" idx="21"/>
          </p:nvPr>
        </p:nvSpPr>
        <p:spPr>
          <a:xfrm>
            <a:off x="6172201" y="1681163"/>
            <a:ext cx="5183189" cy="823913"/>
          </a:xfrm>
          <a:prstGeom prst="rect">
            <a:avLst/>
          </a:prstGeom>
        </p:spPr>
        <p:txBody>
          <a:bodyPr anchor="b"/>
          <a:lstStyle/>
          <a:p>
            <a:pPr marL="0" indent="0">
              <a:buSzTx/>
              <a:buFontTx/>
              <a:buNone/>
              <a:defRPr sz="2400" b="1"/>
            </a:pPr>
            <a:endParaRP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58" name="Title Text"/>
          <p:cNvSpPr txBox="1">
            <a:spLocks noGrp="1"/>
          </p:cNvSpPr>
          <p:nvPr>
            <p:ph type="title"/>
          </p:nvPr>
        </p:nvSpPr>
        <p:spPr>
          <a:prstGeom prst="rect">
            <a:avLst/>
          </a:prstGeom>
        </p:spPr>
        <p:txBody>
          <a:bodyPr/>
          <a:lstStyle/>
          <a:p>
            <a:r>
              <a:t>Title Text</a:t>
            </a:r>
          </a:p>
        </p:txBody>
      </p:sp>
      <p:sp>
        <p:nvSpPr>
          <p:cNvPr id="59"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74" name="Body Level One…"/>
          <p:cNvSpPr txBox="1">
            <a:spLocks noGrp="1"/>
          </p:cNvSpPr>
          <p:nvPr>
            <p:ph type="body" sz="half" idx="1"/>
          </p:nvPr>
        </p:nvSpPr>
        <p:spPr>
          <a:xfrm>
            <a:off x="5183187" y="987425"/>
            <a:ext cx="6172203" cy="4873625"/>
          </a:xfrm>
          <a:prstGeom prst="rect">
            <a:avLst/>
          </a:prstGeom>
        </p:spPr>
        <p:txBody>
          <a:bodyPr/>
          <a:lstStyle>
            <a:lvl1pPr>
              <a:defRPr sz="3200"/>
            </a:lvl1pPr>
            <a:lvl2pPr marL="718466" indent="-261261">
              <a:defRPr sz="3200"/>
            </a:lvl2pPr>
            <a:lvl3pPr marL="1219216" indent="-304805">
              <a:defRPr sz="3200"/>
            </a:lvl3pPr>
            <a:lvl4pPr marL="1737383" indent="-365766">
              <a:defRPr sz="3200"/>
            </a:lvl4pPr>
            <a:lvl5pPr marL="2194589" indent="-365766">
              <a:defRPr sz="3200"/>
            </a:lvl5pPr>
          </a:lstStyle>
          <a:p>
            <a:r>
              <a:t>Body Level One</a:t>
            </a:r>
          </a:p>
          <a:p>
            <a:pPr lvl="1"/>
            <a:r>
              <a:t>Body Level Two</a:t>
            </a:r>
          </a:p>
          <a:p>
            <a:pPr lvl="2"/>
            <a:r>
              <a:t>Body Level Three</a:t>
            </a:r>
          </a:p>
          <a:p>
            <a:pPr lvl="3"/>
            <a:r>
              <a:t>Body Level Four</a:t>
            </a:r>
          </a:p>
          <a:p>
            <a:pPr lvl="4"/>
            <a:r>
              <a:t>Body Level Five</a:t>
            </a:r>
          </a:p>
        </p:txBody>
      </p:sp>
      <p:sp>
        <p:nvSpPr>
          <p:cNvPr id="75" name="Text Placeholder 3"/>
          <p:cNvSpPr>
            <a:spLocks noGrp="1"/>
          </p:cNvSpPr>
          <p:nvPr>
            <p:ph type="body" sz="quarter" idx="21"/>
          </p:nvPr>
        </p:nvSpPr>
        <p:spPr>
          <a:xfrm>
            <a:off x="839790" y="2057400"/>
            <a:ext cx="3932236" cy="3811588"/>
          </a:xfrm>
          <a:prstGeom prst="rect">
            <a:avLst/>
          </a:prstGeom>
        </p:spPr>
        <p:txBody>
          <a:bodyPr/>
          <a:lstStyle/>
          <a:p>
            <a:pPr marL="0" indent="0">
              <a:buSzTx/>
              <a:buFontTx/>
              <a:buNone/>
              <a:defRPr sz="1600"/>
            </a:pPr>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84" name="Picture Placeholder 2"/>
          <p:cNvSpPr>
            <a:spLocks noGrp="1"/>
          </p:cNvSpPr>
          <p:nvPr>
            <p:ph type="pic" sz="half" idx="21"/>
          </p:nvPr>
        </p:nvSpPr>
        <p:spPr>
          <a:xfrm>
            <a:off x="5183187" y="987425"/>
            <a:ext cx="6172203" cy="4873625"/>
          </a:xfrm>
          <a:prstGeom prst="rect">
            <a:avLst/>
          </a:prstGeom>
        </p:spPr>
        <p:txBody>
          <a:bodyPr lIns="91439" rIns="91439">
            <a:noAutofit/>
          </a:bodyPr>
          <a:lstStyle/>
          <a:p>
            <a:endParaRPr dirty="0"/>
          </a:p>
        </p:txBody>
      </p:sp>
      <p:sp>
        <p:nvSpPr>
          <p:cNvPr id="85" name="Body Level One…"/>
          <p:cNvSpPr txBox="1">
            <a:spLocks noGrp="1"/>
          </p:cNvSpPr>
          <p:nvPr>
            <p:ph type="body" sz="quarter" idx="1"/>
          </p:nvPr>
        </p:nvSpPr>
        <p:spPr>
          <a:xfrm>
            <a:off x="839790" y="2057400"/>
            <a:ext cx="3932236" cy="3811588"/>
          </a:xfrm>
          <a:prstGeom prst="rect">
            <a:avLst/>
          </a:prstGeom>
        </p:spPr>
        <p:txBody>
          <a:bodyPr/>
          <a:lstStyle>
            <a:lvl1pPr marL="0" indent="0">
              <a:buSzTx/>
              <a:buFontTx/>
              <a:buNone/>
              <a:defRPr sz="1600"/>
            </a:lvl1pPr>
            <a:lvl2pPr marL="0" indent="457206">
              <a:buSzTx/>
              <a:buFontTx/>
              <a:buNone/>
              <a:defRPr sz="1600"/>
            </a:lvl2pPr>
            <a:lvl3pPr marL="0" indent="914411">
              <a:buSzTx/>
              <a:buFontTx/>
              <a:buNone/>
              <a:defRPr sz="1600"/>
            </a:lvl3pPr>
            <a:lvl4pPr marL="0" indent="1371616">
              <a:buSzTx/>
              <a:buFontTx/>
              <a:buNone/>
              <a:defRPr sz="1600"/>
            </a:lvl4pPr>
            <a:lvl5pPr marL="0" indent="1828823">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2" y="365125"/>
            <a:ext cx="10515601"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2" y="1825625"/>
            <a:ext cx="10515601" cy="43513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traight Connector 6"/>
          <p:cNvSpPr/>
          <p:nvPr/>
        </p:nvSpPr>
        <p:spPr>
          <a:xfrm flipH="1" flipV="1">
            <a:off x="11366378" y="6459014"/>
            <a:ext cx="3" cy="159415"/>
          </a:xfrm>
          <a:prstGeom prst="line">
            <a:avLst/>
          </a:prstGeom>
          <a:ln w="19050" cap="rnd">
            <a:solidFill>
              <a:srgbClr val="8ED656"/>
            </a:solidFill>
            <a:miter/>
          </a:ln>
        </p:spPr>
        <p:txBody>
          <a:bodyPr lIns="45719" rIns="45719"/>
          <a:lstStyle/>
          <a:p>
            <a:endParaRPr dirty="0"/>
          </a:p>
        </p:txBody>
      </p:sp>
      <p:sp>
        <p:nvSpPr>
          <p:cNvPr id="5" name="Slide Number"/>
          <p:cNvSpPr txBox="1">
            <a:spLocks noGrp="1"/>
          </p:cNvSpPr>
          <p:nvPr>
            <p:ph type="sldNum" sz="quarter" idx="2"/>
          </p:nvPr>
        </p:nvSpPr>
        <p:spPr>
          <a:xfrm>
            <a:off x="11095177" y="6414761"/>
            <a:ext cx="258624" cy="248306"/>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Lst>
  <p:transition spd="med"/>
  <p:txStyles>
    <p:titleStyle>
      <a:lvl1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3" marR="0" indent="-228603"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9" marR="0" indent="-266704"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56" marR="0" indent="-320045"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23"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29"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34"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40"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46"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51"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45.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4.emf"/></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5.wmf"/></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ABAP Programming Part1</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Introduction to ABAP Editor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ABAP editor is a tool for ABAP coding.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It is one of the main tool of the ABAP workbench.</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transaction code for ABAP editor is SE38.</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Any customized program must start with Z or Y as first alphabet.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 statement is a sequence of words that ends with a period.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the ABAP editor, the keywords appear in blue color. </a:t>
            </a:r>
          </a:p>
        </p:txBody>
      </p:sp>
    </p:spTree>
    <p:extLst>
      <p:ext uri="{BB962C8B-B14F-4D97-AF65-F5344CB8AC3E}">
        <p14:creationId xmlns:p14="http://schemas.microsoft.com/office/powerpoint/2010/main" val="242441063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Functionalities of ABAP Editor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Save - Ctrl + 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Syntax check - Ctrl + F2</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Activation - Ctrl + F3</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Execute - F8</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Display/change - Ctrl+ F1</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Display object list - Ctrl + Shift + F5</a:t>
            </a:r>
          </a:p>
        </p:txBody>
      </p:sp>
    </p:spTree>
    <p:extLst>
      <p:ext uri="{BB962C8B-B14F-4D97-AF65-F5344CB8AC3E}">
        <p14:creationId xmlns:p14="http://schemas.microsoft.com/office/powerpoint/2010/main" val="67970987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Functionalities of ABAP Editor - Pretty Printer</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use of pretty printer is used to format the ABAP code. It makes the code more readable.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shortcut of pretty printer is Shift + F1.</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functionalities of pretty printer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Indentation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Convert uppercase/lowercase </a:t>
            </a:r>
          </a:p>
        </p:txBody>
      </p:sp>
    </p:spTree>
    <p:extLst>
      <p:ext uri="{BB962C8B-B14F-4D97-AF65-F5344CB8AC3E}">
        <p14:creationId xmlns:p14="http://schemas.microsoft.com/office/powerpoint/2010/main" val="3433436265"/>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Functionalities of ABAP Editor - Comments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 comment is an explanation that is added to the source code of a program to help the person reading the program to understand it.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Comments are ignored when the program is generated by the ABAP compiler.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 character at the start of a program line indicates that the entire line is a comment.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 character, which can be entered at any position in the line, indicates that the remaining content in the line is a comment.</a:t>
            </a:r>
          </a:p>
        </p:txBody>
      </p:sp>
    </p:spTree>
    <p:extLst>
      <p:ext uri="{BB962C8B-B14F-4D97-AF65-F5344CB8AC3E}">
        <p14:creationId xmlns:p14="http://schemas.microsoft.com/office/powerpoint/2010/main" val="58713288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Functionalities of ABAP Editor - Comments(Contd.)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Shortcut to comment out lines - Ctrl +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Shortcut to uncomment lines - Ctrl + .</a:t>
            </a:r>
          </a:p>
        </p:txBody>
      </p:sp>
    </p:spTree>
    <p:extLst>
      <p:ext uri="{BB962C8B-B14F-4D97-AF65-F5344CB8AC3E}">
        <p14:creationId xmlns:p14="http://schemas.microsoft.com/office/powerpoint/2010/main" val="853092353"/>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Data Types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Data types are templates for creating data objects.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 data type defines the technical attributes of data objects.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Data types do not use any memory space.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Data types can be defined independently in the ABAP program or in ABAP dictionary.</a:t>
            </a:r>
          </a:p>
        </p:txBody>
      </p:sp>
    </p:spTree>
    <p:extLst>
      <p:ext uri="{BB962C8B-B14F-4D97-AF65-F5344CB8AC3E}">
        <p14:creationId xmlns:p14="http://schemas.microsoft.com/office/powerpoint/2010/main" val="3345023991"/>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Data Objects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 data object is an instance of a data type.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 data object holds the contents or data.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occupies the memory space based upon the data type specified.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Example - DATA lv_empid(20) TYPE n.</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lv_empid = 10.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the above example, DATA = keyword , lv_empid is the name of the data object,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TYPE = keyword , n(numeric) =  is a data type of that data object. </a:t>
            </a:r>
          </a:p>
        </p:txBody>
      </p:sp>
    </p:spTree>
    <p:extLst>
      <p:ext uri="{BB962C8B-B14F-4D97-AF65-F5344CB8AC3E}">
        <p14:creationId xmlns:p14="http://schemas.microsoft.com/office/powerpoint/2010/main" val="253315439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Categories of Data Types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three categories of data types.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Elementary types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Complex types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Reference types</a:t>
            </a:r>
          </a:p>
        </p:txBody>
      </p:sp>
      <p:pic>
        <p:nvPicPr>
          <p:cNvPr id="2" name="Picture 3">
            <a:extLst>
              <a:ext uri="{FF2B5EF4-FFF2-40B4-BE49-F238E27FC236}">
                <a16:creationId xmlns:a16="http://schemas.microsoft.com/office/drawing/2014/main" id="{F741753E-A866-1D1B-CB72-9066C9CF5A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6201" y="1582810"/>
            <a:ext cx="3657600" cy="4956104"/>
          </a:xfrm>
          <a:prstGeom prst="rect">
            <a:avLst/>
          </a:prstGeom>
          <a:noFill/>
          <a:ln w="9525">
            <a:solidFill>
              <a:srgbClr val="00B0F0"/>
            </a:solidFill>
            <a:round/>
            <a:headEnd/>
            <a:tailEnd/>
          </a:ln>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TextBox 2">
            <a:extLst>
              <a:ext uri="{FF2B5EF4-FFF2-40B4-BE49-F238E27FC236}">
                <a16:creationId xmlns:a16="http://schemas.microsoft.com/office/drawing/2014/main" id="{A1D3483F-03B4-8458-4F6F-648F200E2DDA}"/>
              </a:ext>
            </a:extLst>
          </p:cNvPr>
          <p:cNvSpPr txBox="1"/>
          <p:nvPr/>
        </p:nvSpPr>
        <p:spPr>
          <a:xfrm flipH="1">
            <a:off x="7696201" y="1194316"/>
            <a:ext cx="3147237"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Calibri" panose="020F0502020204030204" pitchFamily="34" charset="0"/>
                <a:cs typeface="Calibri" panose="020F0502020204030204" pitchFamily="34" charset="0"/>
                <a:sym typeface="Calibri"/>
              </a:rPr>
              <a:t>      </a:t>
            </a:r>
            <a:r>
              <a:rPr lang="en-US" dirty="0">
                <a:latin typeface="Calibri" panose="020F0502020204030204" pitchFamily="34" charset="0"/>
                <a:cs typeface="Calibri" panose="020F0502020204030204" pitchFamily="34" charset="0"/>
              </a:rPr>
              <a:t>Categories of Data Types</a:t>
            </a:r>
            <a:endParaRPr kumimoji="0" lang="en-IN" sz="1800" b="0" i="0" u="none" strike="noStrike" cap="none" spc="0" normalizeH="0" baseline="0" dirty="0">
              <a:ln>
                <a:noFill/>
              </a:ln>
              <a:solidFill>
                <a:srgbClr val="000000"/>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56025536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Elementary Types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They are predefined data types.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They are single data types. They are not composed of other data types.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Elementary datatypes are of 2 types: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Fixed length data types - C(character) , N(numeric) , I(Integer) , P(packed number) , F(floating point) , D(date), T(time) , X(hexadecimal).</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Variable length data types -  String , Xstring.</a:t>
            </a:r>
          </a:p>
        </p:txBody>
      </p:sp>
    </p:spTree>
    <p:extLst>
      <p:ext uri="{BB962C8B-B14F-4D97-AF65-F5344CB8AC3E}">
        <p14:creationId xmlns:p14="http://schemas.microsoft.com/office/powerpoint/2010/main" val="81481693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Complex Data Types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There is no pre-defined complex data type in ABAP.</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They are the combination of elementary data types.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There are 2 types of complex data types.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Structure type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Table type</a:t>
            </a:r>
          </a:p>
        </p:txBody>
      </p:sp>
    </p:spTree>
    <p:extLst>
      <p:ext uri="{BB962C8B-B14F-4D97-AF65-F5344CB8AC3E}">
        <p14:creationId xmlns:p14="http://schemas.microsoft.com/office/powerpoint/2010/main" val="195843863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Reference Data Types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There is no pre-defined reference data type.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It describes data objects that contain references to other objects.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They are of 2 types of reference data type.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Data reference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Object reference</a:t>
            </a:r>
          </a:p>
        </p:txBody>
      </p:sp>
    </p:spTree>
    <p:extLst>
      <p:ext uri="{BB962C8B-B14F-4D97-AF65-F5344CB8AC3E}">
        <p14:creationId xmlns:p14="http://schemas.microsoft.com/office/powerpoint/2010/main" val="269906738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Reference Data Types(Contd.)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Example : DATA lo_object TYPE REF TO zclass.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the above syntax - DATA = keyword , lo_object = name of data object, TYPE REF TO = keyword , zclass = name of already existing class.</a:t>
            </a:r>
          </a:p>
        </p:txBody>
      </p:sp>
    </p:spTree>
    <p:extLst>
      <p:ext uri="{BB962C8B-B14F-4D97-AF65-F5344CB8AC3E}">
        <p14:creationId xmlns:p14="http://schemas.microsoft.com/office/powerpoint/2010/main" val="4024717039"/>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Types of Data Objects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Data objects are of 2 types.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Literals(unnamed data objects)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Named data objects</a:t>
            </a:r>
          </a:p>
        </p:txBody>
      </p:sp>
    </p:spTree>
    <p:extLst>
      <p:ext uri="{BB962C8B-B14F-4D97-AF65-F5344CB8AC3E}">
        <p14:creationId xmlns:p14="http://schemas.microsoft.com/office/powerpoint/2010/main" val="420215084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Literals(Unnamed Data Objects)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Literals don’t have any name that’s why they are called as unnamed data objects.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a:solidFill>
                  <a:srgbClr val="3B3838"/>
                </a:solidFill>
                <a:latin typeface="Calibri" panose="020F0502020204030204" pitchFamily="34" charset="0"/>
                <a:cs typeface="Calibri" panose="020F0502020204030204" pitchFamily="34" charset="0"/>
              </a:rPr>
              <a:t>They </a:t>
            </a:r>
            <a:r>
              <a:rPr lang="en-US" sz="2400" dirty="0">
                <a:solidFill>
                  <a:srgbClr val="3B3838"/>
                </a:solidFill>
                <a:latin typeface="Calibri" panose="020F0502020204030204" pitchFamily="34" charset="0"/>
                <a:cs typeface="Calibri" panose="020F0502020204030204" pitchFamily="34" charset="0"/>
              </a:rPr>
              <a:t>are fully defined by their value.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There are 2 types of literals.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Numeric literals - Numeric literals have sequence of numbers. Examples - 123 , -4567 etc.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Character literals - Character literals are sequences of alphanumeric characters in single quotation marks. Examples - ‘Test 123’ ,  ‘SAP ABAP’ etc.</a:t>
            </a:r>
          </a:p>
        </p:txBody>
      </p:sp>
    </p:spTree>
    <p:extLst>
      <p:ext uri="{BB962C8B-B14F-4D97-AF65-F5344CB8AC3E}">
        <p14:creationId xmlns:p14="http://schemas.microsoft.com/office/powerpoint/2010/main" val="222019129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Named Data Objects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Data objects that have a name are called as named data objects.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various types of named data objects are as follows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Variables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Constants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Text symbols</a:t>
            </a:r>
          </a:p>
        </p:txBody>
      </p:sp>
    </p:spTree>
    <p:extLst>
      <p:ext uri="{BB962C8B-B14F-4D97-AF65-F5344CB8AC3E}">
        <p14:creationId xmlns:p14="http://schemas.microsoft.com/office/powerpoint/2010/main" val="153461730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Variables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Variables are data objects whose contents can be changed.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Variables are declared using the DATA, CLASS-DATA, STATICS, PARAMETERS, SELECT-OPTIONS, and RANGES keyword.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Example - DATA lv_empid(20) TYPE n.</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lv_empid = 10.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lv_empid = 20.</a:t>
            </a:r>
          </a:p>
        </p:txBody>
      </p:sp>
    </p:spTree>
    <p:extLst>
      <p:ext uri="{BB962C8B-B14F-4D97-AF65-F5344CB8AC3E}">
        <p14:creationId xmlns:p14="http://schemas.microsoft.com/office/powerpoint/2010/main" val="1898353840"/>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Constants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Constants are data objects whose contents can not be changed.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Constants are declared using the  CONSTANTS keyword.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Example - CONSTANTS  lc_pi TYPE P DECIMALS 3 VALUE ‘3.141’.</a:t>
            </a:r>
          </a:p>
        </p:txBody>
      </p:sp>
    </p:spTree>
    <p:extLst>
      <p:ext uri="{BB962C8B-B14F-4D97-AF65-F5344CB8AC3E}">
        <p14:creationId xmlns:p14="http://schemas.microsoft.com/office/powerpoint/2010/main" val="711234921"/>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Text Symbols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 text symbol is a data object that is not declared in the program itself.</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It is defined as a part of the text elements of the program.</a:t>
            </a:r>
          </a:p>
        </p:txBody>
      </p:sp>
    </p:spTree>
    <p:extLst>
      <p:ext uri="{BB962C8B-B14F-4D97-AF65-F5344CB8AC3E}">
        <p14:creationId xmlns:p14="http://schemas.microsoft.com/office/powerpoint/2010/main" val="2104777534"/>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Character and Numeric Data Types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a:t>
            </a:r>
            <a:r>
              <a:rPr lang="en-US" altLang="en-US" sz="2400" dirty="0">
                <a:solidFill>
                  <a:srgbClr val="3B3838"/>
                </a:solidFill>
                <a:latin typeface="Calibri" panose="020F0502020204030204" pitchFamily="34" charset="0"/>
                <a:cs typeface="Calibri" panose="020F0502020204030204" pitchFamily="34" charset="0"/>
              </a:rPr>
              <a:t>C(character) , N(numeric), D(date), T(time) are considered as character(non-numeric) data types.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The I(Integer) , P(packed decimal), F(floating point) are considered as numeric data types.</a:t>
            </a: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2089778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Write Statement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basic ABAP statement for displaying data on the screen is write.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Example - Data: number TYPE I VALUE 1,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name(25) TYPE c VALUE 'Leena’.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WRITE: 'The Number is ‘, number.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WRITE:  /  'The Name is ', name.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can use ‘ /’ in write statement to denotes a new line.</a:t>
            </a:r>
          </a:p>
        </p:txBody>
      </p:sp>
    </p:spTree>
    <p:extLst>
      <p:ext uri="{BB962C8B-B14F-4D97-AF65-F5344CB8AC3E}">
        <p14:creationId xmlns:p14="http://schemas.microsoft.com/office/powerpoint/2010/main" val="2458684640"/>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Chain Operator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chain operator is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It is used to combine the statements.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Statement sequence  - WRITE var1.</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WRITE var2.</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WRITE var3.</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CHAIN statement :   WRITE : var1 , var2 , var3.</a:t>
            </a:r>
          </a:p>
        </p:txBody>
      </p:sp>
    </p:spTree>
    <p:extLst>
      <p:ext uri="{BB962C8B-B14F-4D97-AF65-F5344CB8AC3E}">
        <p14:creationId xmlns:p14="http://schemas.microsoft.com/office/powerpoint/2010/main" val="2483142763"/>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Conditional Statements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Conditional statements allows us to execute a block of code if a certain condition is met.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various conditional statements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IF statement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CASE statement</a:t>
            </a:r>
          </a:p>
        </p:txBody>
      </p:sp>
    </p:spTree>
    <p:extLst>
      <p:ext uri="{BB962C8B-B14F-4D97-AF65-F5344CB8AC3E}">
        <p14:creationId xmlns:p14="http://schemas.microsoft.com/office/powerpoint/2010/main" val="2235533492"/>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IF Statement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a conditional statement.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Every if statement ends with endif.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provide multiple conditions using elseif.</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Multiple statements blocks are there,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depends upon the condition one block executes.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If none of the If and elseif conditions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are satisfied, it goes to else part. </a:t>
            </a:r>
          </a:p>
        </p:txBody>
      </p:sp>
      <p:pic>
        <p:nvPicPr>
          <p:cNvPr id="2" name="Picture 1">
            <a:extLst>
              <a:ext uri="{FF2B5EF4-FFF2-40B4-BE49-F238E27FC236}">
                <a16:creationId xmlns:a16="http://schemas.microsoft.com/office/drawing/2014/main" id="{953E20DB-6997-04F8-719D-9D7497C5F41B}"/>
              </a:ext>
            </a:extLst>
          </p:cNvPr>
          <p:cNvPicPr>
            <a:picLocks noChangeAspect="1"/>
          </p:cNvPicPr>
          <p:nvPr/>
        </p:nvPicPr>
        <p:blipFill>
          <a:blip r:embed="rId3"/>
          <a:stretch>
            <a:fillRect/>
          </a:stretch>
        </p:blipFill>
        <p:spPr>
          <a:xfrm>
            <a:off x="6719920" y="1865476"/>
            <a:ext cx="5229889" cy="2488081"/>
          </a:xfrm>
          <a:prstGeom prst="rect">
            <a:avLst/>
          </a:prstGeom>
          <a:ln>
            <a:solidFill>
              <a:schemeClr val="accent1"/>
            </a:solidFill>
          </a:ln>
        </p:spPr>
      </p:pic>
      <p:sp>
        <p:nvSpPr>
          <p:cNvPr id="3" name="TextBox 2">
            <a:extLst>
              <a:ext uri="{FF2B5EF4-FFF2-40B4-BE49-F238E27FC236}">
                <a16:creationId xmlns:a16="http://schemas.microsoft.com/office/drawing/2014/main" id="{52CED7E7-5E96-762A-9F37-FDCCAACACA7D}"/>
              </a:ext>
            </a:extLst>
          </p:cNvPr>
          <p:cNvSpPr txBox="1"/>
          <p:nvPr/>
        </p:nvSpPr>
        <p:spPr>
          <a:xfrm flipH="1">
            <a:off x="7453421" y="1382232"/>
            <a:ext cx="3604438"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Calibri" panose="020F0502020204030204" pitchFamily="34" charset="0"/>
                <a:cs typeface="Calibri" panose="020F0502020204030204" pitchFamily="34" charset="0"/>
                <a:sym typeface="Calibri"/>
              </a:rPr>
              <a:t>      Various options of IF Statement</a:t>
            </a:r>
            <a:endParaRPr kumimoji="0" lang="en-IN" sz="1800" b="0" i="0" u="none" strike="noStrike" cap="none" spc="0" normalizeH="0" baseline="0" dirty="0">
              <a:ln>
                <a:noFill/>
              </a:ln>
              <a:solidFill>
                <a:srgbClr val="000000"/>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1058464846"/>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CASE Statement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a conditional statement.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Every case statement ends with endcase.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Multiple statements blocks are there,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depends upon the condition one block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executes.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If none of the conditions are satisfied,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it goes to others part. </a:t>
            </a:r>
          </a:p>
        </p:txBody>
      </p:sp>
      <p:pic>
        <p:nvPicPr>
          <p:cNvPr id="2" name="Picture 1">
            <a:extLst>
              <a:ext uri="{FF2B5EF4-FFF2-40B4-BE49-F238E27FC236}">
                <a16:creationId xmlns:a16="http://schemas.microsoft.com/office/drawing/2014/main" id="{0204690F-FF46-2769-C071-41D7F75C9CD3}"/>
              </a:ext>
            </a:extLst>
          </p:cNvPr>
          <p:cNvPicPr>
            <a:picLocks noChangeAspect="1"/>
          </p:cNvPicPr>
          <p:nvPr/>
        </p:nvPicPr>
        <p:blipFill>
          <a:blip r:embed="rId3"/>
          <a:stretch>
            <a:fillRect/>
          </a:stretch>
        </p:blipFill>
        <p:spPr>
          <a:xfrm>
            <a:off x="8446577" y="1894590"/>
            <a:ext cx="2847975" cy="3600450"/>
          </a:xfrm>
          <a:prstGeom prst="rect">
            <a:avLst/>
          </a:prstGeom>
          <a:ln>
            <a:solidFill>
              <a:schemeClr val="accent1"/>
            </a:solidFill>
          </a:ln>
        </p:spPr>
      </p:pic>
      <p:sp>
        <p:nvSpPr>
          <p:cNvPr id="3" name="TextBox 2">
            <a:extLst>
              <a:ext uri="{FF2B5EF4-FFF2-40B4-BE49-F238E27FC236}">
                <a16:creationId xmlns:a16="http://schemas.microsoft.com/office/drawing/2014/main" id="{B889525E-6469-9BD3-1BF2-F64113F8E20C}"/>
              </a:ext>
            </a:extLst>
          </p:cNvPr>
          <p:cNvSpPr txBox="1"/>
          <p:nvPr/>
        </p:nvSpPr>
        <p:spPr>
          <a:xfrm flipH="1">
            <a:off x="7749363" y="1339956"/>
            <a:ext cx="3604438"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Calibri" panose="020F0502020204030204" pitchFamily="34" charset="0"/>
                <a:cs typeface="Calibri" panose="020F0502020204030204" pitchFamily="34" charset="0"/>
                <a:sym typeface="Calibri"/>
              </a:rPr>
              <a:t>                   </a:t>
            </a:r>
            <a:r>
              <a:rPr lang="en-US" dirty="0">
                <a:latin typeface="Calibri" panose="020F0502020204030204" pitchFamily="34" charset="0"/>
                <a:cs typeface="Calibri" panose="020F0502020204030204" pitchFamily="34" charset="0"/>
              </a:rPr>
              <a:t>CASE Statement</a:t>
            </a:r>
            <a:endParaRPr kumimoji="0" lang="en-IN" sz="1800" b="0" i="0" u="none" strike="noStrike" cap="none" spc="0" normalizeH="0" baseline="0" dirty="0">
              <a:ln>
                <a:noFill/>
              </a:ln>
              <a:solidFill>
                <a:srgbClr val="000000"/>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247749607"/>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Difference between Case &amp; IF</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If we have multiple IF conditions , IF check all the conditions, until it gets a true condition whereas in CASE , it directly jumps to the true condition.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Case is performance effective as compared to IF.</a:t>
            </a:r>
          </a:p>
        </p:txBody>
      </p:sp>
    </p:spTree>
    <p:extLst>
      <p:ext uri="{BB962C8B-B14F-4D97-AF65-F5344CB8AC3E}">
        <p14:creationId xmlns:p14="http://schemas.microsoft.com/office/powerpoint/2010/main" val="1768902296"/>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Loop</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Loop allows us to execute a group of statements multiple times.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various loops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Do loop</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While loop.</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Loop at &lt;itab&gt;  where itab stands for Internal table.</a:t>
            </a:r>
          </a:p>
        </p:txBody>
      </p:sp>
    </p:spTree>
    <p:extLst>
      <p:ext uri="{BB962C8B-B14F-4D97-AF65-F5344CB8AC3E}">
        <p14:creationId xmlns:p14="http://schemas.microsoft.com/office/powerpoint/2010/main" val="1859501181"/>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Do Loop</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Do loop is called as a unconditional loop.</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Every do loop ends with enddo.</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  Do &lt;n&gt; TIMES.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&lt;statement block&gt;.</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ENDDO. </a:t>
            </a:r>
          </a:p>
        </p:txBody>
      </p:sp>
    </p:spTree>
    <p:extLst>
      <p:ext uri="{BB962C8B-B14F-4D97-AF65-F5344CB8AC3E}">
        <p14:creationId xmlns:p14="http://schemas.microsoft.com/office/powerpoint/2010/main" val="2119287876"/>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While Loop</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While loop is called as a conditional loop.</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Every while loop ends with endwhile.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  WHILE&lt;condition&gt;.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&lt;statement block&gt;.</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ENDWHILE. </a:t>
            </a:r>
          </a:p>
        </p:txBody>
      </p:sp>
    </p:spTree>
    <p:extLst>
      <p:ext uri="{BB962C8B-B14F-4D97-AF65-F5344CB8AC3E}">
        <p14:creationId xmlns:p14="http://schemas.microsoft.com/office/powerpoint/2010/main" val="2502253716"/>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Loop Statements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Exit - is used to exit from the loop.</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Continue - skip the current processing of the record and then process the next record in the loop statement.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Check - if the check condition is not true, loop will skip the current loop pass and move to next loop pass.</a:t>
            </a:r>
          </a:p>
        </p:txBody>
      </p:sp>
    </p:spTree>
    <p:extLst>
      <p:ext uri="{BB962C8B-B14F-4D97-AF65-F5344CB8AC3E}">
        <p14:creationId xmlns:p14="http://schemas.microsoft.com/office/powerpoint/2010/main" val="1555682254"/>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System Variables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System variables are pre-defined variables in SAP.</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SYST is the structure for the system fields.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All system fields are addressed using SY field name.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system variables are as follows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SY-SUBRC - System variable for return code (successful = 0, not successful = other than 0).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SY-TABIX - It returns the current line index inside a loop.</a:t>
            </a:r>
          </a:p>
        </p:txBody>
      </p:sp>
    </p:spTree>
    <p:extLst>
      <p:ext uri="{BB962C8B-B14F-4D97-AF65-F5344CB8AC3E}">
        <p14:creationId xmlns:p14="http://schemas.microsoft.com/office/powerpoint/2010/main" val="2481654091"/>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System Variables(Contd.)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SY-INDEX - It returns the current line index inside do and while Loop.</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SY-DATUM - System variable for current date (internal format - yyyymmdd).</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SY-UNAME - It returns the logon name of the user.</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SY-UZEIT - It returns the current system time(internal format - hhmmss)</a:t>
            </a:r>
            <a:endParaRPr lang="en-IN"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SY-UCOMM - System variable for user command.</a:t>
            </a:r>
            <a:r>
              <a:rPr lang="en-US" altLang="en-US" sz="2400" dirty="0">
                <a:solidFill>
                  <a:srgbClr val="3B3838"/>
                </a:solidFill>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2220595920"/>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String</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2097074"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 string is a collection of characters.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String is an elementary data type of variable length.</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 point : String operations are applicable to data objects having C(character),N(numeric),D(date),T(time) and string data types. </a:t>
            </a:r>
          </a:p>
        </p:txBody>
      </p:sp>
    </p:spTree>
    <p:extLst>
      <p:ext uri="{BB962C8B-B14F-4D97-AF65-F5344CB8AC3E}">
        <p14:creationId xmlns:p14="http://schemas.microsoft.com/office/powerpoint/2010/main" val="827785146"/>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String Operations - Concatenate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purpose of concatenate is to combine the strings.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  CONCATENATE &lt;c1&gt; --------&lt;cn&gt; INTO &lt;c&gt; SEPERATED BY &lt;s&gt;.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the above syntax :  CONCATENATE = keyword , &lt;c1&gt;-------&lt;cn&gt; = individual strings , INTO = keyword , &lt;c&gt; = final result string , SEPERATED BY = keyword,  &lt;s&gt; = separator.</a:t>
            </a:r>
          </a:p>
        </p:txBody>
      </p:sp>
    </p:spTree>
    <p:extLst>
      <p:ext uri="{BB962C8B-B14F-4D97-AF65-F5344CB8AC3E}">
        <p14:creationId xmlns:p14="http://schemas.microsoft.com/office/powerpoint/2010/main" val="4052009370"/>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String Operations - Split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purpose of split is to divide the strings.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For split, separator is compulsory.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  SPLIT &lt;string&gt; AT &lt;separator&gt; INTO &lt;f1&gt; &lt;f2&gt; &lt;f3&gt;….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the above syntax : SPLIT = keyword , &lt;string&gt; = string which we need to split, AT = keyword, &lt;separator&gt; = any delimiter , INTO = keyword , &lt;f1&gt; &lt;f2&gt;&lt;f3&gt;---- = individual strings.</a:t>
            </a:r>
          </a:p>
        </p:txBody>
      </p:sp>
    </p:spTree>
    <p:extLst>
      <p:ext uri="{BB962C8B-B14F-4D97-AF65-F5344CB8AC3E}">
        <p14:creationId xmlns:p14="http://schemas.microsoft.com/office/powerpoint/2010/main" val="3461630851"/>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String Operations - Condense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purpose of condense is to remove the leading and trailing spaces and convert a sequence of spaces into a single space.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 CONDENSE &lt;c&gt;.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the above syntax : CONDENSE = keyword , &lt;c&gt; = string which we want to condense.</a:t>
            </a:r>
          </a:p>
        </p:txBody>
      </p:sp>
    </p:spTree>
    <p:extLst>
      <p:ext uri="{BB962C8B-B14F-4D97-AF65-F5344CB8AC3E}">
        <p14:creationId xmlns:p14="http://schemas.microsoft.com/office/powerpoint/2010/main" val="4223770377"/>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String Operations - Condense No-gaps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To remove the entire spaces the addition no-gaps is used with condense.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 CONDENSE&lt;c&gt; NO-GAPS.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the above syntax : CONDENSE = keyword , &lt;c&gt; = string which we want to condense , NO-GAPS = keyword.</a:t>
            </a:r>
          </a:p>
        </p:txBody>
      </p:sp>
    </p:spTree>
    <p:extLst>
      <p:ext uri="{BB962C8B-B14F-4D97-AF65-F5344CB8AC3E}">
        <p14:creationId xmlns:p14="http://schemas.microsoft.com/office/powerpoint/2010/main" val="1082626637"/>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String Operations - Strlen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purpose of strlen is to provide the string length.</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  len = strlen( string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the above syntax : len = variable name which returns the length of the string, strlen = pre-defined operation , string = string whose length needs to be calculated.</a:t>
            </a:r>
          </a:p>
        </p:txBody>
      </p:sp>
    </p:spTree>
    <p:extLst>
      <p:ext uri="{BB962C8B-B14F-4D97-AF65-F5344CB8AC3E}">
        <p14:creationId xmlns:p14="http://schemas.microsoft.com/office/powerpoint/2010/main" val="3159047494"/>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String Operations - Find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purpose of find is to find a particular pattern in a string.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 FIND &lt;pattern&gt; IN &lt;str&gt;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the above syntax : FIND = keyword , &lt;pattern&gt; = is the sequence of characters we are looking for , IN = keyword , &lt;str&gt; = is the string that is being searched.</a:t>
            </a:r>
          </a:p>
        </p:txBody>
      </p:sp>
    </p:spTree>
    <p:extLst>
      <p:ext uri="{BB962C8B-B14F-4D97-AF65-F5344CB8AC3E}">
        <p14:creationId xmlns:p14="http://schemas.microsoft.com/office/powerpoint/2010/main" val="3659618146"/>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String Operations - Translate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purpose of translate is to convert the string to upper case or lower case.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 TRANSLATE &lt;string&gt; TO UPPER CASE/ LOWER CASE.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the above syntax : TRANSLATE = keyword , &lt;string&gt; =  the string which needs to be converted , TO  = keyword , UPPER CASE/LOWER CASE = keyword.</a:t>
            </a:r>
          </a:p>
        </p:txBody>
      </p:sp>
    </p:spTree>
    <p:extLst>
      <p:ext uri="{BB962C8B-B14F-4D97-AF65-F5344CB8AC3E}">
        <p14:creationId xmlns:p14="http://schemas.microsoft.com/office/powerpoint/2010/main" val="178477500"/>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String Operations - Translate Using Pattern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can translate a text based upon specific pattern also.</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 TRANSLATE &lt;string&gt; USING &lt;pattern&gt;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the above syntax : TRANSLATE = keyword , &lt;string&gt; = the string which needs to be converted , USING  = keyword, pattern = contains letter pairs.</a:t>
            </a:r>
          </a:p>
        </p:txBody>
      </p:sp>
    </p:spTree>
    <p:extLst>
      <p:ext uri="{BB962C8B-B14F-4D97-AF65-F5344CB8AC3E}">
        <p14:creationId xmlns:p14="http://schemas.microsoft.com/office/powerpoint/2010/main" val="2626109028"/>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String Operations - Shift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purpose of shift is to shift the contents of a string.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It shifts the string by a number of places.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 SHIFT &lt;string&gt;  BY n PLACES &lt;mode&gt;. (by default mode is left)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the above syntax : SHIFT = keyword , string = string which needs to be shifted, BY = keyword , n = number  , PLACES =  keyword , &lt;mode&gt; = left/right/circular. </a:t>
            </a:r>
          </a:p>
        </p:txBody>
      </p:sp>
    </p:spTree>
    <p:extLst>
      <p:ext uri="{BB962C8B-B14F-4D97-AF65-F5344CB8AC3E}">
        <p14:creationId xmlns:p14="http://schemas.microsoft.com/office/powerpoint/2010/main" val="1732286301"/>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String Operations - Substring Processing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Substring is a part of the string or small set of characters from the string.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Depends upon the requirement we need to process the substring.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  Target_variable =  Source_variable[+][starting position of substring](length of the substring).</a:t>
            </a:r>
          </a:p>
        </p:txBody>
      </p:sp>
    </p:spTree>
    <p:extLst>
      <p:ext uri="{BB962C8B-B14F-4D97-AF65-F5344CB8AC3E}">
        <p14:creationId xmlns:p14="http://schemas.microsoft.com/office/powerpoint/2010/main" val="2324157093"/>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6" name="Slide Number Placeholder 1"/>
          <p:cNvSpPr txBox="1">
            <a:spLocks noGrp="1"/>
          </p:cNvSpPr>
          <p:nvPr>
            <p:ph type="sldNum" sz="quarter" idx="2"/>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String Comparison Operators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String comparison operators are used to compare the strings.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String comparison operators are applicable to data objects having C(character),N(numeric),D(date),T(time) and string data types.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system variable SY-FDPOS plays an important role in string comparison.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various string comparison operators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CO(contains only)</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CN(contains not only)</a:t>
            </a:r>
          </a:p>
        </p:txBody>
      </p:sp>
    </p:spTree>
    <p:extLst>
      <p:ext uri="{BB962C8B-B14F-4D97-AF65-F5344CB8AC3E}">
        <p14:creationId xmlns:p14="http://schemas.microsoft.com/office/powerpoint/2010/main" val="1640309610"/>
      </p:ext>
    </p:extLst>
  </p:cSld>
  <p:clrMapOvr>
    <a:overrideClrMapping bg1="lt1" tx1="dk1" bg2="lt2" tx2="dk2" accent1="accent1" accent2="accent2" accent3="accent3" accent4="accent4" accent5="accent5" accent6="accent6" hlink="hlink" folHlink="folHlink"/>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String Comparison Operators(Contd.)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CA(contains any)</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NA(contains not any)</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CS(contains string)</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NS(contains no string)</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CP(contains pattern)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NP(contains no pattern)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Refer the attached sheet for the detailed explanation of string comparison operators.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graphicFrame>
        <p:nvGraphicFramePr>
          <p:cNvPr id="3" name="Object 2">
            <a:extLst>
              <a:ext uri="{FF2B5EF4-FFF2-40B4-BE49-F238E27FC236}">
                <a16:creationId xmlns:a16="http://schemas.microsoft.com/office/drawing/2014/main" id="{A06D6C0D-2778-49BB-1BC7-FFA6FCBDECE7}"/>
              </a:ext>
            </a:extLst>
          </p:cNvPr>
          <p:cNvGraphicFramePr>
            <a:graphicFrameLocks noChangeAspect="1"/>
          </p:cNvGraphicFramePr>
          <p:nvPr>
            <p:extLst>
              <p:ext uri="{D42A27DB-BD31-4B8C-83A1-F6EECF244321}">
                <p14:modId xmlns:p14="http://schemas.microsoft.com/office/powerpoint/2010/main" val="2413824109"/>
              </p:ext>
            </p:extLst>
          </p:nvPr>
        </p:nvGraphicFramePr>
        <p:xfrm>
          <a:off x="8301318" y="2377702"/>
          <a:ext cx="914400" cy="792163"/>
        </p:xfrm>
        <a:graphic>
          <a:graphicData uri="http://schemas.openxmlformats.org/presentationml/2006/ole">
            <mc:AlternateContent xmlns:mc="http://schemas.openxmlformats.org/markup-compatibility/2006">
              <mc:Choice xmlns:v="urn:schemas-microsoft-com:vml" Requires="v">
                <p:oleObj name="Worksheet" showAsIcon="1" r:id="rId3" imgW="914400" imgH="792685" progId="Excel.Sheet.12">
                  <p:embed/>
                </p:oleObj>
              </mc:Choice>
              <mc:Fallback>
                <p:oleObj name="Worksheet" showAsIcon="1" r:id="rId3" imgW="914400" imgH="792685" progId="Excel.Sheet.12">
                  <p:embed/>
                  <p:pic>
                    <p:nvPicPr>
                      <p:cNvPr id="0" name=""/>
                      <p:cNvPicPr/>
                      <p:nvPr/>
                    </p:nvPicPr>
                    <p:blipFill>
                      <a:blip r:embed="rId4"/>
                      <a:stretch>
                        <a:fillRect/>
                      </a:stretch>
                    </p:blipFill>
                    <p:spPr>
                      <a:xfrm>
                        <a:off x="8301318" y="2377702"/>
                        <a:ext cx="914400" cy="792163"/>
                      </a:xfrm>
                      <a:prstGeom prst="rect">
                        <a:avLst/>
                      </a:prstGeom>
                    </p:spPr>
                  </p:pic>
                </p:oleObj>
              </mc:Fallback>
            </mc:AlternateContent>
          </a:graphicData>
        </a:graphic>
      </p:graphicFrame>
    </p:spTree>
    <p:extLst>
      <p:ext uri="{BB962C8B-B14F-4D97-AF65-F5344CB8AC3E}">
        <p14:creationId xmlns:p14="http://schemas.microsoft.com/office/powerpoint/2010/main" val="1630547423"/>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Internal Tables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Internal table is a temporary storage of data on application layer.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Internal table stores any number of records at run time.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 very important use of internal tables is for storing and formatting data from a database table within a program. </a:t>
            </a:r>
          </a:p>
        </p:txBody>
      </p:sp>
    </p:spTree>
    <p:extLst>
      <p:ext uri="{BB962C8B-B14F-4D97-AF65-F5344CB8AC3E}">
        <p14:creationId xmlns:p14="http://schemas.microsoft.com/office/powerpoint/2010/main" val="965398382"/>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Work Area In Internal Tables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Work area is also a temporary storage of data on application layer.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Work area are single rows of data.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It is used to process the data in an internal table, one line at a time.</a:t>
            </a:r>
          </a:p>
        </p:txBody>
      </p:sp>
    </p:spTree>
    <p:extLst>
      <p:ext uri="{BB962C8B-B14F-4D97-AF65-F5344CB8AC3E}">
        <p14:creationId xmlns:p14="http://schemas.microsoft.com/office/powerpoint/2010/main" val="2742253863"/>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Types of Internal Tables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Internal table is of 3 types. Refer the attached sheet for the comparison and related questions on the types of internal tables.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Standard internal table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Sorted internal table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Hashed internal table</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a:t>
            </a:r>
          </a:p>
        </p:txBody>
      </p:sp>
      <p:sp>
        <p:nvSpPr>
          <p:cNvPr id="5" name="TextBox 4">
            <a:extLst>
              <a:ext uri="{FF2B5EF4-FFF2-40B4-BE49-F238E27FC236}">
                <a16:creationId xmlns:a16="http://schemas.microsoft.com/office/drawing/2014/main" id="{7A5FE771-6085-DF3B-4D82-1779DA2618E7}"/>
              </a:ext>
            </a:extLst>
          </p:cNvPr>
          <p:cNvSpPr txBox="1"/>
          <p:nvPr/>
        </p:nvSpPr>
        <p:spPr>
          <a:xfrm>
            <a:off x="7718611" y="2650303"/>
            <a:ext cx="2922495"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t>Comparison of Internal Tables</a:t>
            </a:r>
            <a:endParaRPr kumimoji="0" lang="en-IN" sz="1800" b="0" i="0" u="none" strike="noStrike" cap="none" spc="0" normalizeH="0" baseline="0" dirty="0">
              <a:ln>
                <a:noFill/>
              </a:ln>
              <a:solidFill>
                <a:srgbClr val="000000"/>
              </a:solidFill>
              <a:effectLst/>
              <a:uFillTx/>
              <a:latin typeface="+mj-lt"/>
              <a:ea typeface="+mj-ea"/>
              <a:cs typeface="+mj-cs"/>
              <a:sym typeface="Calibri"/>
            </a:endParaRPr>
          </a:p>
        </p:txBody>
      </p:sp>
      <p:graphicFrame>
        <p:nvGraphicFramePr>
          <p:cNvPr id="6" name="Object 5">
            <a:extLst>
              <a:ext uri="{FF2B5EF4-FFF2-40B4-BE49-F238E27FC236}">
                <a16:creationId xmlns:a16="http://schemas.microsoft.com/office/drawing/2014/main" id="{50EB1D49-FC03-4D5D-9FA3-6AEADA0FD62D}"/>
              </a:ext>
            </a:extLst>
          </p:cNvPr>
          <p:cNvGraphicFramePr>
            <a:graphicFrameLocks noChangeAspect="1"/>
          </p:cNvGraphicFramePr>
          <p:nvPr>
            <p:extLst>
              <p:ext uri="{D42A27DB-BD31-4B8C-83A1-F6EECF244321}">
                <p14:modId xmlns:p14="http://schemas.microsoft.com/office/powerpoint/2010/main" val="3014811061"/>
              </p:ext>
            </p:extLst>
          </p:nvPr>
        </p:nvGraphicFramePr>
        <p:xfrm>
          <a:off x="8588188" y="3223462"/>
          <a:ext cx="914400" cy="792163"/>
        </p:xfrm>
        <a:graphic>
          <a:graphicData uri="http://schemas.openxmlformats.org/presentationml/2006/ole">
            <mc:AlternateContent xmlns:mc="http://schemas.openxmlformats.org/markup-compatibility/2006">
              <mc:Choice xmlns:v="urn:schemas-microsoft-com:vml" Requires="v">
                <p:oleObj name="Worksheet" showAsIcon="1" r:id="rId3" imgW="914400" imgH="792360" progId="Excel.Sheet.12">
                  <p:embed/>
                </p:oleObj>
              </mc:Choice>
              <mc:Fallback>
                <p:oleObj name="Worksheet" showAsIcon="1" r:id="rId3" imgW="914400" imgH="792360" progId="Excel.Sheet.12">
                  <p:embed/>
                  <p:pic>
                    <p:nvPicPr>
                      <p:cNvPr id="0" name=""/>
                      <p:cNvPicPr/>
                      <p:nvPr/>
                    </p:nvPicPr>
                    <p:blipFill>
                      <a:blip r:embed="rId4"/>
                      <a:stretch>
                        <a:fillRect/>
                      </a:stretch>
                    </p:blipFill>
                    <p:spPr>
                      <a:xfrm>
                        <a:off x="8588188" y="3223462"/>
                        <a:ext cx="914400" cy="792163"/>
                      </a:xfrm>
                      <a:prstGeom prst="rect">
                        <a:avLst/>
                      </a:prstGeom>
                      <a:ln>
                        <a:solidFill>
                          <a:schemeClr val="accent1"/>
                        </a:solidFill>
                      </a:ln>
                    </p:spPr>
                  </p:pic>
                </p:oleObj>
              </mc:Fallback>
            </mc:AlternateContent>
          </a:graphicData>
        </a:graphic>
      </p:graphicFrame>
    </p:spTree>
    <p:extLst>
      <p:ext uri="{BB962C8B-B14F-4D97-AF65-F5344CB8AC3E}">
        <p14:creationId xmlns:p14="http://schemas.microsoft.com/office/powerpoint/2010/main" val="4169905218"/>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Internal Table With Header Line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case of internal table with header line, there is an implicit(internal) work area.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name of the work area is same as that of internal table.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To clearly identify the internal table use brackets after the internal table name(&lt;itab&gt;[]).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CLEAR  &lt;itab&gt;[] - Clear the contents of internal table.</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Imp point :  In case of internal table with header line, CLEAR &lt;itab&gt; clears the work area, not the internal table. If you want to clear the internal table use brackets after the internal table name. </a:t>
            </a:r>
          </a:p>
        </p:txBody>
      </p:sp>
    </p:spTree>
    <p:extLst>
      <p:ext uri="{BB962C8B-B14F-4D97-AF65-F5344CB8AC3E}">
        <p14:creationId xmlns:p14="http://schemas.microsoft.com/office/powerpoint/2010/main" val="3927351709"/>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Internal Table Without Header Line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can avoid the confusion of internal table with header line by using the concept of internal table without header line.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case of internal table without header line, there is an explicit(external) work area.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declare an explicit work area.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name of the internal table is different from as that of work area.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CLEAR &lt;itab&gt; - Clear the contents of internal table.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02229013"/>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Internal Table Operations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Append - It is used to insert data at the last of the internal table.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Delete - It is used to delete the records from the internal table.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Modify - It is used to modify the records of the Internal table.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Loop - It is used to read the records one by one from the internal table.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Read table - It is used to read the first matching record from the internal table.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Clear , Refresh - It is used to clear the contents of the internal table.</a:t>
            </a:r>
          </a:p>
        </p:txBody>
      </p:sp>
    </p:spTree>
    <p:extLst>
      <p:ext uri="{BB962C8B-B14F-4D97-AF65-F5344CB8AC3E}">
        <p14:creationId xmlns:p14="http://schemas.microsoft.com/office/powerpoint/2010/main" val="1600253831"/>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Internal Table Operations(Contd.)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73755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Collect - It is used to make sum of numeric field values based upon unique character (non-numeric) field values.  The </a:t>
            </a:r>
            <a:r>
              <a:rPr lang="en-US" altLang="en-US" sz="2400" dirty="0">
                <a:solidFill>
                  <a:srgbClr val="3B3838"/>
                </a:solidFill>
                <a:latin typeface="Calibri" panose="020F0502020204030204" pitchFamily="34" charset="0"/>
                <a:cs typeface="Calibri" panose="020F0502020204030204" pitchFamily="34" charset="0"/>
              </a:rPr>
              <a:t>C(character) , N(numeric), D(date), T(time) are considered as character(non-numeric) data types. The I(Integer) , P(</a:t>
            </a:r>
            <a:r>
              <a:rPr lang="en-US" altLang="en-US" sz="2400">
                <a:solidFill>
                  <a:srgbClr val="3B3838"/>
                </a:solidFill>
                <a:latin typeface="Calibri" panose="020F0502020204030204" pitchFamily="34" charset="0"/>
                <a:cs typeface="Calibri" panose="020F0502020204030204" pitchFamily="34" charset="0"/>
              </a:rPr>
              <a:t>packed decimal), </a:t>
            </a:r>
            <a:r>
              <a:rPr lang="en-US" altLang="en-US" sz="2400" dirty="0">
                <a:solidFill>
                  <a:srgbClr val="3B3838"/>
                </a:solidFill>
                <a:latin typeface="Calibri" panose="020F0502020204030204" pitchFamily="34" charset="0"/>
                <a:cs typeface="Calibri" panose="020F0502020204030204" pitchFamily="34" charset="0"/>
              </a:rPr>
              <a:t>F(floating point) are considered as numeric data types.</a:t>
            </a: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Sort - It is to sort the internal table. If we are not specifying anything, then by default It sorts in the ascending order. If we want to sort in descending order, then we need to specify the keyword descending.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56974256"/>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Internal Table Operations(Contd.)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Describe table - It returns the number of records in the internal table.</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Syntax : DESCRIBE TABLE &lt;itab&gt;  LINES &lt;lv_lines&gt;.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In the above syntax : DESCRIBE TABLE = keyword, &lt;itab&gt; = name of the  internal table ,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LINES = keyword,  &lt;lv_lines&gt; = local variable which returns the number of records.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57302970"/>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Selection Screen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Selection screen is also called as Input screen.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With the help of selection screen user provides a input to the program.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There are 2 ways to provide the input to the program.</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Parameters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Select-options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90433883"/>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Parameters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Parameters are used to pass the single input.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various parameters variations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PARAMETERS &lt;p&gt; ...... DEFAULT &lt;f&gt; ......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PARAMETERS &lt;p&gt; ...... OBLIGATORY ......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PARAMETERS &lt;p&gt; ...... AS CHECKBOX ......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PARAMETERS &lt;p&gt; ...... RADIOBUTTON GROUP &lt;radi&gt;......</a:t>
            </a:r>
          </a:p>
        </p:txBody>
      </p:sp>
    </p:spTree>
    <p:extLst>
      <p:ext uri="{BB962C8B-B14F-4D97-AF65-F5344CB8AC3E}">
        <p14:creationId xmlns:p14="http://schemas.microsoft.com/office/powerpoint/2010/main" val="2699431736"/>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Select-Options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Select-options are used to pass a range of inputs.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various Select-options variations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SELECT-OPTIONS &lt;seltab&gt; FOR &lt;f&gt; ... DEFAULT &lt;g&gt; [TO &lt;h&gt;]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SELECT-OPTIONS &lt;seltab&gt; FOR &lt;f&gt; ... NO-EXTENSION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SELECT-OPTIONS &lt;seltab&gt; FOR &lt;f&gt; ... NO INTERVALS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SELECT-OPTIONS &lt;seltab&gt; FOR &lt;f&gt; ... OBLIGATORY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27295320"/>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Select-Options(Contd.)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 select-option has 4 parts.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Sign - I/E(include/exclude)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Option - Relational operator( EQ, BT, LT etc.)</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Low - Low value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High - High value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86258021"/>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58</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Thank You</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extLst>
      <p:ext uri="{BB962C8B-B14F-4D97-AF65-F5344CB8AC3E}">
        <p14:creationId xmlns:p14="http://schemas.microsoft.com/office/powerpoint/2010/main" val="883752571"/>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Override1.xml><?xml version="1.0" encoding="utf-8"?>
<a:themeOverride xmlns:a="http://schemas.openxmlformats.org/drawingml/2006/main">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themeOverride>
</file>

<file path=docProps/app.xml><?xml version="1.0" encoding="utf-8"?>
<Properties xmlns="http://schemas.openxmlformats.org/officeDocument/2006/extended-properties" xmlns:vt="http://schemas.openxmlformats.org/officeDocument/2006/docPropsVTypes">
  <Template/>
  <TotalTime>6031</TotalTime>
  <Words>3255</Words>
  <Application>Microsoft Office PowerPoint</Application>
  <PresentationFormat>Widescreen</PresentationFormat>
  <Paragraphs>367</Paragraphs>
  <Slides>58</Slides>
  <Notes>58</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2</vt:i4>
      </vt:variant>
      <vt:variant>
        <vt:lpstr>Slide Titles</vt:lpstr>
      </vt:variant>
      <vt:variant>
        <vt:i4>58</vt:i4>
      </vt:variant>
    </vt:vector>
  </HeadingPairs>
  <TitlesOfParts>
    <vt:vector size="65" baseType="lpstr">
      <vt:lpstr>Arial</vt:lpstr>
      <vt:lpstr>Calibri</vt:lpstr>
      <vt:lpstr>Calibri Light</vt:lpstr>
      <vt:lpstr>Wingdings</vt:lpstr>
      <vt:lpstr>Office Theme</vt:lpstr>
      <vt:lpstr>Worksheet</vt:lpstr>
      <vt:lpstr>Microsoft Excel 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Mehta</dc:creator>
  <cp:lastModifiedBy>Rahul Mehta</cp:lastModifiedBy>
  <cp:revision>2599</cp:revision>
  <dcterms:modified xsi:type="dcterms:W3CDTF">2024-05-20T07:50:33Z</dcterms:modified>
</cp:coreProperties>
</file>